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858000" cy="9144000"/>
  <p:embeddedFontLst>
    <p:embeddedFont>
      <p:font typeface="Helvetica Neue"/>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jkPybjmxio9TPNmev47UK/Hfnw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A79578-6EBD-4A30-9A00-4C205B78CB78}">
  <a:tblStyle styleId="{6BA79578-6EBD-4A30-9A00-4C205B78CB78}"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font>
          <a:latin typeface="Tw Cen MT"/>
          <a:ea typeface="Tw Cen MT"/>
          <a:cs typeface="Tw Cen MT"/>
        </a:font>
        <a:schemeClr val="lt1"/>
      </a:tcTxStyle>
      <a:tcStyle>
        <a:fill>
          <a:solidFill>
            <a:schemeClr val="accent1"/>
          </a:solidFill>
        </a:fill>
      </a:tcStyle>
    </a:lastCol>
    <a:firstCol>
      <a:tcTxStyle b="on" i="off">
        <a:font>
          <a:latin typeface="Tw Cen MT"/>
          <a:ea typeface="Tw Cen MT"/>
          <a:cs typeface="Tw Cen MT"/>
        </a:font>
        <a:schemeClr val="lt1"/>
      </a:tcTxStyle>
      <a:tcStyle>
        <a:fill>
          <a:solidFill>
            <a:schemeClr val="accent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AFBEF156-AE33-4673-8F29-369F8A23E65B}" styleName="Table_1">
    <a:wholeTbl>
      <a:tcTxStyle b="off" i="off">
        <a:font>
          <a:latin typeface="Tw Cen MT"/>
          <a:ea typeface="Tw Cen MT"/>
          <a:cs typeface="Tw Cen MT"/>
        </a:font>
        <a:schemeClr val="lt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tcStyle>
        <a:tcBdr>
          <a:left>
            <a:ln cap="flat" cmpd="sng" w="25400">
              <a:solidFill>
                <a:schemeClr val="lt1"/>
              </a:solidFill>
              <a:prstDash val="solid"/>
              <a:round/>
              <a:headEnd len="sm" w="sm" type="none"/>
              <a:tailEnd len="sm" w="sm" type="none"/>
            </a:ln>
          </a:left>
        </a:tcBdr>
        <a:fill>
          <a:solidFill>
            <a:srgbClr val="A8A8A8"/>
          </a:solidFill>
        </a:fill>
      </a:tcStyle>
    </a:lastCol>
    <a:firstCol>
      <a:tcTxStyle b="on" i="off"/>
      <a:tcStyle>
        <a:tcBdr>
          <a:right>
            <a:ln cap="flat" cmpd="sng" w="25400">
              <a:solidFill>
                <a:schemeClr val="lt1"/>
              </a:solidFill>
              <a:prstDash val="solid"/>
              <a:round/>
              <a:headEnd len="sm" w="sm" type="none"/>
              <a:tailEnd len="sm" w="sm" type="none"/>
            </a:ln>
          </a:right>
        </a:tcBdr>
        <a:fill>
          <a:solidFill>
            <a:srgbClr val="A8A8A8"/>
          </a:solidFill>
        </a:fill>
      </a:tcStyle>
    </a:firstCol>
    <a:lastRow>
      <a:tcTxStyle b="on" i="off"/>
      <a:tcStyle>
        <a:tcBdr>
          <a:top>
            <a:ln cap="flat" cmpd="sng" w="25400">
              <a:solidFill>
                <a:schemeClr val="lt1"/>
              </a:solidFill>
              <a:prstDash val="solid"/>
              <a:round/>
              <a:headEnd len="sm" w="sm" type="none"/>
              <a:tailEnd len="sm" w="sm" type="none"/>
            </a:ln>
          </a:top>
        </a:tcBdr>
        <a:fill>
          <a:solidFill>
            <a:srgbClr val="A8A8A8"/>
          </a:solidFill>
        </a:fill>
      </a:tcStyle>
    </a:lastRow>
    <a:seCell>
      <a:tcTxStyle/>
      <a:tcStyle>
        <a:tcBdr>
          <a:left>
            <a:ln cap="flat" cmpd="sng" w="9525">
              <a:solidFill>
                <a:srgbClr val="000000">
                  <a:alpha val="0"/>
                </a:srgbClr>
              </a:solidFill>
              <a:prstDash val="solid"/>
              <a:round/>
              <a:headEnd len="sm" w="sm" type="none"/>
              <a:tailEnd len="sm" w="sm" type="none"/>
            </a:ln>
          </a:left>
        </a:tcBdr>
      </a:tcStyle>
    </a:seCell>
    <a:swCell>
      <a:tcTxStyle/>
      <a:tcStyle>
        <a:tcBdr>
          <a:right>
            <a:ln cap="flat" cmpd="sng" w="9525">
              <a:solidFill>
                <a:srgbClr val="000000">
                  <a:alpha val="0"/>
                </a:srgbClr>
              </a:solidFill>
              <a:prstDash val="solid"/>
              <a:round/>
              <a:headEnd len="sm" w="sm" type="none"/>
              <a:tailEnd len="sm" w="sm" type="none"/>
            </a:ln>
          </a:right>
        </a:tcBdr>
      </a:tcStyle>
    </a:swCell>
    <a:firstRow>
      <a:tcTxStyle b="on" i="off"/>
      <a:tcStyle>
        <a:tcBdr>
          <a:bottom>
            <a:ln cap="flat" cmpd="sng" w="25400">
              <a:solidFill>
                <a:schemeClr val="lt1"/>
              </a:solidFill>
              <a:prstDash val="solid"/>
              <a:round/>
              <a:headEnd len="sm" w="sm" type="none"/>
              <a:tailEnd len="sm" w="sm" type="none"/>
            </a:ln>
          </a:bottom>
        </a:tcBdr>
        <a:fill>
          <a:solidFill>
            <a:schemeClr val="dk1"/>
          </a:solidFill>
        </a:fill>
      </a:tcStyle>
    </a:firstRow>
    <a:neCell>
      <a:tcTxStyle/>
      <a:tcStyle>
        <a:tcBdr>
          <a:left>
            <a:ln cap="flat" cmpd="sng" w="9525">
              <a:solidFill>
                <a:srgbClr val="000000">
                  <a:alpha val="0"/>
                </a:srgbClr>
              </a:solidFill>
              <a:prstDash val="solid"/>
              <a:round/>
              <a:headEnd len="sm" w="sm" type="none"/>
              <a:tailEnd len="sm" w="sm" type="none"/>
            </a:ln>
          </a:left>
        </a:tcBdr>
      </a:tcStyle>
    </a:neCell>
    <a:nwCell>
      <a:tcTxStyle/>
      <a:tcStyle>
        <a:tcBdr>
          <a:right>
            <a:ln cap="flat" cmpd="sng" w="9525">
              <a:solidFill>
                <a:srgbClr val="000000">
                  <a:alpha val="0"/>
                </a:srgbClr>
              </a:solidFill>
              <a:prstDash val="solid"/>
              <a:round/>
              <a:headEnd len="sm" w="sm" type="none"/>
              <a:tailEnd len="sm" w="sm" type="none"/>
            </a:ln>
          </a:right>
        </a:tcBdr>
      </a:tc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43"/>
          <p:cNvSpPr/>
          <p:nvPr/>
        </p:nvSpPr>
        <p:spPr>
          <a:xfrm>
            <a:off x="0" y="0"/>
            <a:ext cx="12192000" cy="4572001"/>
          </a:xfrm>
          <a:prstGeom prst="rect">
            <a:avLst/>
          </a:prstGeom>
          <a:solidFill>
            <a:srgbClr val="148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3"/>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3"/>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43"/>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21" name="Google Shape;21;p4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24" name="Google Shape;24;p43"/>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8" name="Google Shape;28;p4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1" name="Shape 31"/>
        <p:cNvGrpSpPr/>
        <p:nvPr/>
      </p:nvGrpSpPr>
      <p:grpSpPr>
        <a:xfrm>
          <a:off x="0" y="0"/>
          <a:ext cx="0" cy="0"/>
          <a:chOff x="0" y="0"/>
          <a:chExt cx="0" cy="0"/>
        </a:xfrm>
      </p:grpSpPr>
      <p:sp>
        <p:nvSpPr>
          <p:cNvPr id="32" name="Google Shape;32;p45"/>
          <p:cNvSpPr/>
          <p:nvPr/>
        </p:nvSpPr>
        <p:spPr>
          <a:xfrm>
            <a:off x="0" y="0"/>
            <a:ext cx="12192000" cy="4572001"/>
          </a:xfrm>
          <a:prstGeom prst="rect">
            <a:avLst/>
          </a:prstGeom>
          <a:solidFill>
            <a:srgbClr val="1D9A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5"/>
          <p:cNvSpPr/>
          <p:nvPr/>
        </p:nvSpPr>
        <p:spPr>
          <a:xfrm>
            <a:off x="-1" y="0"/>
            <a:ext cx="12192000" cy="4572001"/>
          </a:xfrm>
          <a:custGeom>
            <a:rect b="b" l="l" r="r" t="t"/>
            <a:pathLst>
              <a:path extrusionOk="0" h="4572001" w="12192000">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5"/>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5"/>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6" name="Google Shape;36;p4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39" name="Google Shape;39;p45"/>
          <p:cNvCxnSpPr/>
          <p:nvPr/>
        </p:nvCxnSpPr>
        <p:spPr>
          <a:xfrm rot="10800000">
            <a:off x="8386843" y="5264106"/>
            <a:ext cx="0" cy="914400"/>
          </a:xfrm>
          <a:prstGeom prst="straightConnector1">
            <a:avLst/>
          </a:prstGeom>
          <a:noFill/>
          <a:ln cap="flat" cmpd="sng" w="19050">
            <a:solidFill>
              <a:srgbClr val="1482AB"/>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4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6"/>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3" name="Google Shape;43;p46"/>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4" name="Google Shape;44;p4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4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47"/>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47"/>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47"/>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rm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2" name="Google Shape;52;p47"/>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3" name="Google Shape;53;p4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4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4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4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1" name="Shape 61"/>
        <p:cNvGrpSpPr/>
        <p:nvPr/>
      </p:nvGrpSpPr>
      <p:grpSpPr>
        <a:xfrm>
          <a:off x="0" y="0"/>
          <a:ext cx="0" cy="0"/>
          <a:chOff x="0" y="0"/>
          <a:chExt cx="0" cy="0"/>
        </a:xfrm>
      </p:grpSpPr>
      <p:sp>
        <p:nvSpPr>
          <p:cNvPr id="62" name="Google Shape;62;p4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50"/>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0"/>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rm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8" name="Google Shape;68;p50"/>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rm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9" name="Google Shape;69;p5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2" name="Shape 72"/>
        <p:cNvGrpSpPr/>
        <p:nvPr/>
      </p:nvGrpSpPr>
      <p:grpSpPr>
        <a:xfrm>
          <a:off x="0" y="0"/>
          <a:ext cx="0" cy="0"/>
          <a:chOff x="0" y="0"/>
          <a:chExt cx="0" cy="0"/>
        </a:xfrm>
      </p:grpSpPr>
      <p:sp>
        <p:nvSpPr>
          <p:cNvPr id="73" name="Google Shape;73;p51"/>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rm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1"/>
          <p:cNvSpPr/>
          <p:nvPr>
            <p:ph idx="2" type="pic"/>
          </p:nvPr>
        </p:nvSpPr>
        <p:spPr>
          <a:xfrm>
            <a:off x="0" y="-1"/>
            <a:ext cx="12188952" cy="4572000"/>
          </a:xfrm>
          <a:prstGeom prst="rect">
            <a:avLst/>
          </a:prstGeom>
          <a:solidFill>
            <a:srgbClr val="76CEEF"/>
          </a:solidFill>
          <a:ln>
            <a:noFill/>
          </a:ln>
        </p:spPr>
      </p:sp>
      <p:sp>
        <p:nvSpPr>
          <p:cNvPr id="75" name="Google Shape;75;p51"/>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6" name="Google Shape;76;p5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9" name="Google Shape;79;p51"/>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5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52"/>
          <p:cNvSpPr txBox="1"/>
          <p:nvPr>
            <p:ph idx="1" type="body"/>
          </p:nvPr>
        </p:nvSpPr>
        <p:spPr>
          <a:xfrm rot="5400000">
            <a:off x="3872485" y="-562356"/>
            <a:ext cx="4023360" cy="9720073"/>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3" name="Google Shape;83;p5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6" name="Shape 86"/>
        <p:cNvGrpSpPr/>
        <p:nvPr/>
      </p:nvGrpSpPr>
      <p:grpSpPr>
        <a:xfrm>
          <a:off x="0" y="0"/>
          <a:ext cx="0" cy="0"/>
          <a:chOff x="0" y="0"/>
          <a:chExt cx="0" cy="0"/>
        </a:xfrm>
      </p:grpSpPr>
      <p:sp>
        <p:nvSpPr>
          <p:cNvPr id="87" name="Google Shape;87;p53"/>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rm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53"/>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9" name="Google Shape;89;p5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92" name="Google Shape;92;p53"/>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4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4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4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US"/>
              <a:t>‹#›</a:t>
            </a:fld>
            <a:endParaRPr/>
          </a:p>
        </p:txBody>
      </p:sp>
      <p:cxnSp>
        <p:nvCxnSpPr>
          <p:cNvPr id="15" name="Google Shape;15;p42"/>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 name="Shape 96"/>
        <p:cNvGrpSpPr/>
        <p:nvPr/>
      </p:nvGrpSpPr>
      <p:grpSpPr>
        <a:xfrm>
          <a:off x="0" y="0"/>
          <a:ext cx="0" cy="0"/>
          <a:chOff x="0" y="0"/>
          <a:chExt cx="0" cy="0"/>
        </a:xfrm>
      </p:grpSpPr>
      <p:sp>
        <p:nvSpPr>
          <p:cNvPr id="97" name="Google Shape;97;p1"/>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98" name="Google Shape;98;p1"/>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wentieth Century"/>
              <a:ea typeface="Twentieth Century"/>
              <a:cs typeface="Twentieth Century"/>
              <a:sym typeface="Twentieth Century"/>
            </a:endParaRPr>
          </a:p>
        </p:txBody>
      </p:sp>
      <p:sp>
        <p:nvSpPr>
          <p:cNvPr id="99" name="Google Shape;99;p1"/>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SINAI (SUHI) PROJECT</a:t>
            </a:r>
            <a:endParaRPr/>
          </a:p>
        </p:txBody>
      </p:sp>
      <p:sp>
        <p:nvSpPr>
          <p:cNvPr id="100" name="Google Shape;100;p1"/>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January 17</a:t>
            </a:r>
            <a:r>
              <a:rPr baseline="30000" lang="en-US">
                <a:solidFill>
                  <a:srgbClr val="FFFFFF"/>
                </a:solidFill>
              </a:rPr>
              <a:t>th</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101" name="Google Shape;101;p1"/>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102" name="Google Shape;102;p1"/>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103" name="Google Shape;103;p1"/>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RESEARCH QUESTION</a:t>
            </a:r>
            <a:endParaRPr/>
          </a:p>
        </p:txBody>
      </p:sp>
      <p:sp>
        <p:nvSpPr>
          <p:cNvPr id="109" name="Google Shape;109;p2"/>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en-US">
                <a:latin typeface="Times New Roman"/>
                <a:ea typeface="Times New Roman"/>
                <a:cs typeface="Times New Roman"/>
                <a:sym typeface="Times New Roman"/>
              </a:rPr>
              <a:t>How can we leverage the note to improve the classification model?</a:t>
            </a:r>
            <a:endParaRPr/>
          </a:p>
          <a:p>
            <a:pPr indent="0" lvl="0" marL="91440" rtl="0" algn="l">
              <a:lnSpc>
                <a:spcPct val="90000"/>
              </a:lnSpc>
              <a:spcBef>
                <a:spcPts val="1400"/>
              </a:spcBef>
              <a:spcAft>
                <a:spcPts val="0"/>
              </a:spcAft>
              <a:buSzPts val="2200"/>
              <a:buNone/>
            </a:pPr>
            <a:r>
              <a:t/>
            </a:r>
            <a:endParaRPr>
              <a:latin typeface="Times New Roman"/>
              <a:ea typeface="Times New Roman"/>
              <a:cs typeface="Times New Roman"/>
              <a:sym typeface="Times New Roman"/>
            </a:endParaRPr>
          </a:p>
        </p:txBody>
      </p:sp>
      <p:pic>
        <p:nvPicPr>
          <p:cNvPr descr="A diagram of medical records&#10;&#10;Description automatically generated" id="110" name="Google Shape;110;p2"/>
          <p:cNvPicPr preferRelativeResize="0"/>
          <p:nvPr/>
        </p:nvPicPr>
        <p:blipFill rotWithShape="1">
          <a:blip r:embed="rId3">
            <a:alphaModFix/>
          </a:blip>
          <a:srcRect b="0" l="0" r="0" t="0"/>
          <a:stretch/>
        </p:blipFill>
        <p:spPr>
          <a:xfrm>
            <a:off x="1184148" y="3353706"/>
            <a:ext cx="9400032" cy="350429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 </a:t>
            </a:r>
            <a:endParaRPr/>
          </a:p>
        </p:txBody>
      </p:sp>
      <p:sp>
        <p:nvSpPr>
          <p:cNvPr id="116" name="Google Shape;116;p3"/>
          <p:cNvSpPr txBox="1"/>
          <p:nvPr>
            <p:ph idx="1" type="body"/>
          </p:nvPr>
        </p:nvSpPr>
        <p:spPr>
          <a:xfrm>
            <a:off x="812219" y="1595197"/>
            <a:ext cx="10673199" cy="3450613"/>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Font typeface="Arial"/>
              <a:buNone/>
            </a:pPr>
            <a:r>
              <a:t/>
            </a:r>
            <a:endParaRPr/>
          </a:p>
          <a:p>
            <a:pPr indent="-139700" lvl="0" marL="91440" rtl="0" algn="l">
              <a:lnSpc>
                <a:spcPct val="90000"/>
              </a:lnSpc>
              <a:spcBef>
                <a:spcPts val="1400"/>
              </a:spcBef>
              <a:spcAft>
                <a:spcPts val="0"/>
              </a:spcAft>
              <a:buSzPts val="2200"/>
              <a:buFont typeface="Arial"/>
              <a:buChar char="•"/>
            </a:pPr>
            <a:r>
              <a:rPr lang="en-US"/>
              <a:t> Reading research papers about ClinicalBERT [1] and about readmission rate at hospitals [2] [3] -&gt; </a:t>
            </a:r>
            <a:r>
              <a:rPr lang="en-US">
                <a:solidFill>
                  <a:srgbClr val="00B050"/>
                </a:solidFill>
              </a:rPr>
              <a:t>Finished</a:t>
            </a:r>
            <a:endParaRPr/>
          </a:p>
          <a:p>
            <a:pPr indent="-139700" lvl="0" marL="91440" rtl="0" algn="l">
              <a:lnSpc>
                <a:spcPct val="90000"/>
              </a:lnSpc>
              <a:spcBef>
                <a:spcPts val="1400"/>
              </a:spcBef>
              <a:spcAft>
                <a:spcPts val="0"/>
              </a:spcAft>
              <a:buSzPts val="2200"/>
              <a:buFont typeface="Arial"/>
              <a:buChar char="•"/>
            </a:pPr>
            <a:r>
              <a:rPr lang="en-US"/>
              <a:t> Try running the classification model (RF) code  for the surveyed, non-engaged, and engaged notes -&gt; </a:t>
            </a:r>
            <a:r>
              <a:rPr lang="en-US">
                <a:solidFill>
                  <a:srgbClr val="7030A0"/>
                </a:solidFill>
              </a:rPr>
              <a:t>WIP</a:t>
            </a:r>
            <a:endParaRPr/>
          </a:p>
          <a:p>
            <a:pPr indent="-139700" lvl="0" marL="91440" rtl="0" algn="l">
              <a:lnSpc>
                <a:spcPct val="90000"/>
              </a:lnSpc>
              <a:spcBef>
                <a:spcPts val="1400"/>
              </a:spcBef>
              <a:spcAft>
                <a:spcPts val="0"/>
              </a:spcAft>
              <a:buSzPts val="2200"/>
              <a:buFont typeface="Arial"/>
              <a:buChar char="•"/>
            </a:pPr>
            <a:r>
              <a:rPr lang="en-US"/>
              <a:t> Doing a short summary document about the research papers that I read -&gt; </a:t>
            </a:r>
            <a:r>
              <a:rPr lang="en-US">
                <a:solidFill>
                  <a:srgbClr val="7030A0"/>
                </a:solidFill>
              </a:rPr>
              <a:t>WIP</a:t>
            </a:r>
            <a:endParaRPr/>
          </a:p>
        </p:txBody>
      </p:sp>
      <p:sp>
        <p:nvSpPr>
          <p:cNvPr id="117" name="Google Shape;117;p3"/>
          <p:cNvSpPr txBox="1"/>
          <p:nvPr/>
        </p:nvSpPr>
        <p:spPr>
          <a:xfrm>
            <a:off x="0" y="4826675"/>
            <a:ext cx="12192000"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wentieth Century"/>
                <a:ea typeface="Twentieth Century"/>
                <a:cs typeface="Twentieth Century"/>
                <a:sym typeface="Twentieth Century"/>
              </a:rPr>
              <a:t>[1] Huang, Kexin. Altosaar, Jaan. Ranganath. “ClinicalBERT: Modeling Clinical Notes and Predicting Hospital Readmission”. November 29th, 2020. </a:t>
            </a:r>
            <a:r>
              <a:rPr b="0" i="1" lang="en-US" sz="1800" u="none" cap="none" strike="noStrike">
                <a:solidFill>
                  <a:schemeClr val="dk1"/>
                </a:solidFill>
                <a:latin typeface="Twentieth Century"/>
                <a:ea typeface="Twentieth Century"/>
                <a:cs typeface="Twentieth Century"/>
                <a:sym typeface="Twentieth Century"/>
              </a:rPr>
              <a:t>CHIL ‘20 Workshop. arXiv.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[2] Hernandez, Nuvia. Karam, Kate. Baugh, Nicole. Musale, Shilpa. Moses, Aditya Patrick. Raicu, Daniela. Furst, Jacob. McCabe, Kelly. Tchoua, Roselyn. “Leveraging Community Health Workers for Predicting Emergency Department Readmissions”. February 8</a:t>
            </a:r>
            <a:r>
              <a:rPr baseline="30000" lang="en-US" sz="1800">
                <a:solidFill>
                  <a:schemeClr val="dk1"/>
                </a:solidFill>
                <a:latin typeface="Twentieth Century"/>
                <a:ea typeface="Twentieth Century"/>
                <a:cs typeface="Twentieth Century"/>
                <a:sym typeface="Twentieth Century"/>
              </a:rPr>
              <a:t>th</a:t>
            </a:r>
            <a:r>
              <a:rPr lang="en-US" sz="1800">
                <a:solidFill>
                  <a:schemeClr val="dk1"/>
                </a:solidFill>
                <a:latin typeface="Twentieth Century"/>
                <a:ea typeface="Twentieth Century"/>
                <a:cs typeface="Twentieth Century"/>
                <a:sym typeface="Twentieth Century"/>
              </a:rPr>
              <a:t>, 2024</a:t>
            </a:r>
            <a:r>
              <a:rPr i="1" lang="en-US" sz="1800">
                <a:solidFill>
                  <a:schemeClr val="dk1"/>
                </a:solidFill>
                <a:latin typeface="Twentieth Century"/>
                <a:ea typeface="Twentieth Century"/>
                <a:cs typeface="Twentieth Century"/>
                <a:sym typeface="Twentieth Century"/>
              </a:rPr>
              <a:t>. International Journal of Semantic Computing. </a:t>
            </a:r>
            <a:endParaRPr/>
          </a:p>
          <a:p>
            <a:pPr indent="0" lvl="0" marL="0" marR="0" rtl="0" algn="l">
              <a:spcBef>
                <a:spcPts val="0"/>
              </a:spcBef>
              <a:spcAft>
                <a:spcPts val="0"/>
              </a:spcAft>
              <a:buNone/>
            </a:pPr>
            <a:r>
              <a:rPr lang="en-US" sz="1800">
                <a:solidFill>
                  <a:schemeClr val="dk1"/>
                </a:solidFill>
                <a:latin typeface="Twentieth Century"/>
                <a:ea typeface="Twentieth Century"/>
                <a:cs typeface="Twentieth Century"/>
                <a:sym typeface="Twentieth Century"/>
              </a:rPr>
              <a:t>[3] Swinburne, Mathew. Garfield, Katie. Wasserman, Aliza R. “Reducing Hospital Readmissions: Addressing the Impact of Food Security and Nutrition”. 2017. </a:t>
            </a:r>
            <a:r>
              <a:rPr i="1" lang="en-US" sz="1800">
                <a:solidFill>
                  <a:schemeClr val="dk1"/>
                </a:solidFill>
                <a:latin typeface="Twentieth Century"/>
                <a:ea typeface="Twentieth Century"/>
                <a:cs typeface="Twentieth Century"/>
                <a:sym typeface="Twentieth Century"/>
              </a:rPr>
              <a:t>2016 public health law conference – Spring 2017.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OVERVIEW</a:t>
            </a:r>
            <a:endParaRPr/>
          </a:p>
        </p:txBody>
      </p:sp>
      <p:sp>
        <p:nvSpPr>
          <p:cNvPr id="123" name="Google Shape;123;p4"/>
          <p:cNvSpPr txBox="1"/>
          <p:nvPr>
            <p:ph idx="1" type="body"/>
          </p:nvPr>
        </p:nvSpPr>
        <p:spPr>
          <a:xfrm>
            <a:off x="784619" y="1752322"/>
            <a:ext cx="6858000" cy="5105677"/>
          </a:xfrm>
          <a:prstGeom prst="rect">
            <a:avLst/>
          </a:prstGeom>
          <a:noFill/>
          <a:ln>
            <a:noFill/>
          </a:ln>
        </p:spPr>
        <p:txBody>
          <a:bodyPr anchorCtr="0" anchor="t" bIns="45700" lIns="45700" spcFirstLastPara="1" rIns="45700" wrap="square" tIns="45700">
            <a:normAutofit/>
          </a:bodyPr>
          <a:lstStyle/>
          <a:p>
            <a:pPr indent="0" lvl="0" marL="0" rtl="0" algn="l">
              <a:lnSpc>
                <a:spcPct val="90000"/>
              </a:lnSpc>
              <a:spcBef>
                <a:spcPts val="0"/>
              </a:spcBef>
              <a:spcAft>
                <a:spcPts val="0"/>
              </a:spcAft>
              <a:buSzPts val="2200"/>
              <a:buNone/>
            </a:pPr>
            <a:r>
              <a:t/>
            </a:r>
            <a:endParaRPr>
              <a:latin typeface="Times New Roman"/>
              <a:ea typeface="Times New Roman"/>
              <a:cs typeface="Times New Roman"/>
              <a:sym typeface="Times New Roman"/>
            </a:endParaRPr>
          </a:p>
          <a:p>
            <a:pPr indent="0" lvl="0" marL="0" rtl="0" algn="l">
              <a:lnSpc>
                <a:spcPct val="90000"/>
              </a:lnSpc>
              <a:spcBef>
                <a:spcPts val="1400"/>
              </a:spcBef>
              <a:spcAft>
                <a:spcPts val="0"/>
              </a:spcAft>
              <a:buSzPts val="2200"/>
              <a:buNone/>
            </a:pPr>
            <a:r>
              <a:t/>
            </a:r>
            <a:endParaRPr>
              <a:latin typeface="Times New Roman"/>
              <a:ea typeface="Times New Roman"/>
              <a:cs typeface="Times New Roman"/>
              <a:sym typeface="Times New Roman"/>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BERT</a:t>
            </a:r>
            <a:r>
              <a:rPr i="1" lang="en-US">
                <a:latin typeface="Times New Roman"/>
                <a:ea typeface="Times New Roman"/>
                <a:cs typeface="Times New Roman"/>
                <a:sym typeface="Times New Roman"/>
              </a:rPr>
              <a:t> (Bidirectional</a:t>
            </a:r>
            <a:r>
              <a:rPr lang="en-US">
                <a:latin typeface="Times New Roman"/>
                <a:ea typeface="Times New Roman"/>
                <a:cs typeface="Times New Roman"/>
                <a:sym typeface="Times New Roman"/>
              </a:rPr>
              <a:t> </a:t>
            </a:r>
            <a:r>
              <a:rPr i="1" lang="en-US">
                <a:latin typeface="Times New Roman"/>
                <a:ea typeface="Times New Roman"/>
                <a:cs typeface="Times New Roman"/>
                <a:sym typeface="Times New Roman"/>
              </a:rPr>
              <a:t>encoder representations from transformers) </a:t>
            </a:r>
            <a:r>
              <a:rPr lang="en-US">
                <a:latin typeface="Times New Roman"/>
                <a:ea typeface="Times New Roman"/>
                <a:cs typeface="Times New Roman"/>
                <a:sym typeface="Times New Roman"/>
              </a:rPr>
              <a:t>is a machine learning framework for natural language processing developed by Google. </a:t>
            </a:r>
            <a:endParaRPr>
              <a:latin typeface="Times New Roman"/>
              <a:ea typeface="Times New Roman"/>
              <a:cs typeface="Times New Roman"/>
              <a:sym typeface="Times New Roman"/>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ClinicalBert is Bert that specialized to medical notes </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BERT is trained on Wikipedia and BooksCorpus. Meanwhile, CLINICALBERT is trained on clinical notes to predict hospital readmission rate</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Clinical notes are hard to use in machine learning models due to their unusual grammar structures, high–dimensional, and spare information </a:t>
            </a:r>
            <a:endParaRPr/>
          </a:p>
          <a:p>
            <a:pPr indent="0" lvl="0" marL="91440" rtl="0" algn="l">
              <a:lnSpc>
                <a:spcPct val="90000"/>
              </a:lnSpc>
              <a:spcBef>
                <a:spcPts val="1400"/>
              </a:spcBef>
              <a:spcAft>
                <a:spcPts val="0"/>
              </a:spcAft>
              <a:buSzPts val="2200"/>
              <a:buFont typeface="Arial"/>
              <a:buNone/>
            </a:pPr>
            <a:r>
              <a:t/>
            </a:r>
            <a:endParaRPr>
              <a:latin typeface="Times New Roman"/>
              <a:ea typeface="Times New Roman"/>
              <a:cs typeface="Times New Roman"/>
              <a:sym typeface="Times New Roman"/>
            </a:endParaRPr>
          </a:p>
          <a:p>
            <a:pPr indent="0" lvl="0" marL="91440" rtl="0" algn="l">
              <a:lnSpc>
                <a:spcPct val="90000"/>
              </a:lnSpc>
              <a:spcBef>
                <a:spcPts val="1400"/>
              </a:spcBef>
              <a:spcAft>
                <a:spcPts val="0"/>
              </a:spcAft>
              <a:buSzPts val="2200"/>
              <a:buFont typeface="Arial"/>
              <a:buNone/>
            </a:pPr>
            <a:r>
              <a:t/>
            </a:r>
            <a:endParaRPr>
              <a:latin typeface="Times New Roman"/>
              <a:ea typeface="Times New Roman"/>
              <a:cs typeface="Times New Roman"/>
              <a:sym typeface="Times New Roman"/>
            </a:endParaRPr>
          </a:p>
        </p:txBody>
      </p:sp>
      <p:pic>
        <p:nvPicPr>
          <p:cNvPr descr="ClinicalBERT-Deep-Learning--Predicting-Hospital-Readmission-Using-Transformer/README.md  at master ·  nwams/ClinicalBERT-Deep-Learning--Predicting-Hospital-Readmission-Using-Transformer  · GitHub" id="124" name="Google Shape;124;p4"/>
          <p:cNvPicPr preferRelativeResize="0"/>
          <p:nvPr/>
        </p:nvPicPr>
        <p:blipFill rotWithShape="1">
          <a:blip r:embed="rId3">
            <a:alphaModFix/>
          </a:blip>
          <a:srcRect b="0" l="0" r="0" t="0"/>
          <a:stretch/>
        </p:blipFill>
        <p:spPr>
          <a:xfrm>
            <a:off x="4623450" y="0"/>
            <a:ext cx="7568551" cy="307570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1024128" y="0"/>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PRETRAINED MODEL</a:t>
            </a:r>
            <a:endParaRPr/>
          </a:p>
        </p:txBody>
      </p:sp>
      <p:sp>
        <p:nvSpPr>
          <p:cNvPr id="130" name="Google Shape;130;p5"/>
          <p:cNvSpPr txBox="1"/>
          <p:nvPr>
            <p:ph idx="1" type="body"/>
          </p:nvPr>
        </p:nvSpPr>
        <p:spPr>
          <a:xfrm>
            <a:off x="1024128" y="106553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It pre-trained on medical notes from the MIMIC-III dataset.</a:t>
            </a:r>
            <a:endParaRPr/>
          </a:p>
          <a:p>
            <a:pPr indent="-139700" lvl="0" marL="91440" rtl="0" algn="l">
              <a:lnSpc>
                <a:spcPct val="90000"/>
              </a:lnSpc>
              <a:spcBef>
                <a:spcPts val="1400"/>
              </a:spcBef>
              <a:spcAft>
                <a:spcPts val="0"/>
              </a:spcAft>
              <a:buSzPts val="2200"/>
              <a:buFont typeface="Arial"/>
              <a:buChar char="•"/>
            </a:pPr>
            <a:r>
              <a:rPr lang="en-US"/>
              <a:t>It used masked language modeling and next-sentence prediction. In masked language modeling, a fraction of the input token (Clinical notes were split into tokens) are held out for prediction; in next sentence prediction, ClinicalBERT predicts whether two input sentences are consecutive.</a:t>
            </a:r>
            <a:endParaRPr/>
          </a:p>
          <a:p>
            <a:pPr indent="-139700" lvl="0" marL="91440" rtl="0" algn="l">
              <a:lnSpc>
                <a:spcPct val="90000"/>
              </a:lnSpc>
              <a:spcBef>
                <a:spcPts val="1400"/>
              </a:spcBef>
              <a:spcAft>
                <a:spcPts val="0"/>
              </a:spcAft>
              <a:buSzPts val="2200"/>
              <a:buFont typeface="Arial"/>
              <a:buChar char="•"/>
            </a:pPr>
            <a:r>
              <a:rPr lang="en-US"/>
              <a:t>It used the SpaCy library for rule-based sentence segmentation to handle clinical note grammar and abbreviations.</a:t>
            </a:r>
            <a:endParaRPr/>
          </a:p>
          <a:p>
            <a:pPr indent="-139700" lvl="0" marL="91440" rtl="0" algn="l">
              <a:lnSpc>
                <a:spcPct val="90000"/>
              </a:lnSpc>
              <a:spcBef>
                <a:spcPts val="1400"/>
              </a:spcBef>
              <a:spcAft>
                <a:spcPts val="0"/>
              </a:spcAft>
              <a:buSzPts val="2200"/>
              <a:buFont typeface="Arial"/>
              <a:buChar char="•"/>
            </a:pPr>
            <a:r>
              <a:rPr lang="en-US"/>
              <a:t>For the preprocessing part, it converted all text to lowercase and removed special characters, line breaks, and carriage returns.</a:t>
            </a:r>
            <a:endParaRPr/>
          </a:p>
          <a:p>
            <a:pPr indent="0" lvl="0" marL="91440" rtl="0" algn="l">
              <a:lnSpc>
                <a:spcPct val="90000"/>
              </a:lnSpc>
              <a:spcBef>
                <a:spcPts val="1400"/>
              </a:spcBef>
              <a:spcAft>
                <a:spcPts val="0"/>
              </a:spcAft>
              <a:buSzPts val="2200"/>
              <a:buFont typeface="Arial"/>
              <a:buNone/>
            </a:pPr>
            <a:r>
              <a:t/>
            </a:r>
            <a:endParaRPr/>
          </a:p>
          <a:p>
            <a:pPr indent="0" lvl="0" marL="91440" rtl="0" algn="l">
              <a:lnSpc>
                <a:spcPct val="90000"/>
              </a:lnSpc>
              <a:spcBef>
                <a:spcPts val="1400"/>
              </a:spcBef>
              <a:spcAft>
                <a:spcPts val="0"/>
              </a:spcAft>
              <a:buSzPts val="2200"/>
              <a:buFont typeface="Arial"/>
              <a:buNone/>
            </a:pPr>
            <a:r>
              <a:t/>
            </a:r>
            <a:endParaRPr/>
          </a:p>
        </p:txBody>
      </p:sp>
      <p:pic>
        <p:nvPicPr>
          <p:cNvPr descr="A yellow cartoon character with a stethoscope&#10;&#10;Description automatically generated" id="131" name="Google Shape;131;p5"/>
          <p:cNvPicPr preferRelativeResize="0"/>
          <p:nvPr/>
        </p:nvPicPr>
        <p:blipFill rotWithShape="1">
          <a:blip r:embed="rId3">
            <a:alphaModFix/>
          </a:blip>
          <a:srcRect b="0" l="0" r="0" t="0"/>
          <a:stretch/>
        </p:blipFill>
        <p:spPr>
          <a:xfrm>
            <a:off x="350520" y="4488663"/>
            <a:ext cx="5273040" cy="22899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RESULTS</a:t>
            </a:r>
            <a:endParaRPr/>
          </a:p>
        </p:txBody>
      </p:sp>
      <p:sp>
        <p:nvSpPr>
          <p:cNvPr id="137" name="Google Shape;137;p6"/>
          <p:cNvSpPr txBox="1"/>
          <p:nvPr>
            <p:ph idx="1" type="body"/>
          </p:nvPr>
        </p:nvSpPr>
        <p:spPr>
          <a:xfrm>
            <a:off x="1024127" y="1815338"/>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CLINICALBERT outperformed other competitive deep language models in the case study of hospital readmission prediction. </a:t>
            </a:r>
            <a:endParaRPr/>
          </a:p>
          <a:p>
            <a:pPr indent="-139700" lvl="0" marL="91440" rtl="0" algn="l">
              <a:lnSpc>
                <a:spcPct val="90000"/>
              </a:lnSpc>
              <a:spcBef>
                <a:spcPts val="1400"/>
              </a:spcBef>
              <a:spcAft>
                <a:spcPts val="0"/>
              </a:spcAft>
              <a:buSzPts val="2200"/>
              <a:buFont typeface="Arial"/>
              <a:buChar char="•"/>
            </a:pPr>
            <a:r>
              <a:rPr lang="en-US"/>
              <a:t>CLINICALBERT is better than BERT in terms of average accuracy of masked language modeling and next-sentence prediction. </a:t>
            </a:r>
            <a:endParaRPr/>
          </a:p>
          <a:p>
            <a:pPr indent="-139700" lvl="0" marL="91440" rtl="0" algn="l">
              <a:lnSpc>
                <a:spcPct val="90000"/>
              </a:lnSpc>
              <a:spcBef>
                <a:spcPts val="1400"/>
              </a:spcBef>
              <a:spcAft>
                <a:spcPts val="0"/>
              </a:spcAft>
              <a:buSzPts val="2200"/>
              <a:buFont typeface="Arial"/>
              <a:buChar char="•"/>
            </a:pPr>
            <a:r>
              <a:rPr lang="en-US"/>
              <a:t>In terms of capturing clinical word similarity, CLINICALBERT has a more accurate result compared to the other two popular models of clinical text, Word2Vec, and FastText. </a:t>
            </a:r>
            <a:endParaRPr/>
          </a:p>
        </p:txBody>
      </p:sp>
      <p:pic>
        <p:nvPicPr>
          <p:cNvPr descr="A white rectangular box with black text&#10;&#10;Description automatically generated" id="138" name="Google Shape;138;p6"/>
          <p:cNvPicPr preferRelativeResize="0"/>
          <p:nvPr/>
        </p:nvPicPr>
        <p:blipFill rotWithShape="1">
          <a:blip r:embed="rId3">
            <a:alphaModFix/>
          </a:blip>
          <a:srcRect b="0" l="0" r="0" t="0"/>
          <a:stretch/>
        </p:blipFill>
        <p:spPr>
          <a:xfrm>
            <a:off x="6549608" y="4267200"/>
            <a:ext cx="5041935" cy="2243328"/>
          </a:xfrm>
          <a:prstGeom prst="rect">
            <a:avLst/>
          </a:prstGeom>
          <a:noFill/>
          <a:ln>
            <a:noFill/>
          </a:ln>
        </p:spPr>
      </p:pic>
      <p:pic>
        <p:nvPicPr>
          <p:cNvPr descr="A black and white text with black text&#10;&#10;Description automatically generated with medium confidence" id="139" name="Google Shape;139;p6"/>
          <p:cNvPicPr preferRelativeResize="0"/>
          <p:nvPr/>
        </p:nvPicPr>
        <p:blipFill rotWithShape="1">
          <a:blip r:embed="rId4">
            <a:alphaModFix/>
          </a:blip>
          <a:srcRect b="0" l="0" r="0" t="0"/>
          <a:stretch/>
        </p:blipFill>
        <p:spPr>
          <a:xfrm>
            <a:off x="723865" y="5257800"/>
            <a:ext cx="5518082" cy="10149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FUTURE WORK </a:t>
            </a:r>
            <a:endParaRPr/>
          </a:p>
        </p:txBody>
      </p:sp>
      <p:sp>
        <p:nvSpPr>
          <p:cNvPr id="145" name="Google Shape;145;p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 Understand the pre-processing step after I run the classification model (RF) code.</a:t>
            </a:r>
            <a:endParaRPr/>
          </a:p>
          <a:p>
            <a:pPr indent="-139700" lvl="0" marL="91440" rtl="0" algn="l">
              <a:lnSpc>
                <a:spcPct val="90000"/>
              </a:lnSpc>
              <a:spcBef>
                <a:spcPts val="1400"/>
              </a:spcBef>
              <a:spcAft>
                <a:spcPts val="0"/>
              </a:spcAft>
              <a:buSzPts val="2200"/>
              <a:buFont typeface="Arial"/>
              <a:buChar char="•"/>
            </a:pPr>
            <a:r>
              <a:rPr lang="en-US"/>
              <a:t> I will do some experiments by adding notes into tabular data and combining it to count how the number of notes and create a correlation matrix. </a:t>
            </a:r>
            <a:endParaRPr/>
          </a:p>
          <a:p>
            <a:pPr indent="-139700" lvl="0" marL="91440" rtl="0" algn="l">
              <a:lnSpc>
                <a:spcPct val="90000"/>
              </a:lnSpc>
              <a:spcBef>
                <a:spcPts val="1400"/>
              </a:spcBef>
              <a:spcAft>
                <a:spcPts val="0"/>
              </a:spcAft>
              <a:buSzPts val="2200"/>
              <a:buFont typeface="Arial"/>
              <a:buChar char="•"/>
            </a:pPr>
            <a:r>
              <a:rPr lang="en-US"/>
              <a:t> I will find if two numbers match for several categories between tabular and resource notes, such as transportation needs, utilities, employment, food security, etc… (0 for need, 1 for don’t need). Check if are there any notes left behind for both old and new resource notes for a particular patient (record ID).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8"/>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51" name="Google Shape;151;p8"/>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52" name="Google Shape;152;p8"/>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SINAI (SUHI) PROJECT</a:t>
            </a:r>
            <a:endParaRPr/>
          </a:p>
        </p:txBody>
      </p:sp>
      <p:sp>
        <p:nvSpPr>
          <p:cNvPr id="153" name="Google Shape;153;p8"/>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January 24</a:t>
            </a:r>
            <a:r>
              <a:rPr baseline="30000" lang="en-US">
                <a:solidFill>
                  <a:srgbClr val="FFFFFF"/>
                </a:solidFill>
              </a:rPr>
              <a:t>th</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154" name="Google Shape;154;p8"/>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155" name="Google Shape;155;p8"/>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156" name="Google Shape;156;p8"/>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WORKS</a:t>
            </a:r>
            <a:endParaRPr/>
          </a:p>
        </p:txBody>
      </p:sp>
      <p:sp>
        <p:nvSpPr>
          <p:cNvPr id="162" name="Google Shape;162;p9"/>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en-US"/>
              <a:t>Writing a summary of the research paper that I read that is relevant to MEDICALBERT -&gt; </a:t>
            </a:r>
            <a:r>
              <a:rPr lang="en-US">
                <a:solidFill>
                  <a:srgbClr val="00B050"/>
                </a:solidFill>
              </a:rPr>
              <a:t>Finished</a:t>
            </a:r>
            <a:r>
              <a:rPr lang="en-US"/>
              <a:t> </a:t>
            </a:r>
            <a:endParaRPr>
              <a:latin typeface="Helvetica Neue"/>
              <a:ea typeface="Helvetica Neue"/>
              <a:cs typeface="Helvetica Neue"/>
              <a:sym typeface="Helvetica Neue"/>
            </a:endParaRPr>
          </a:p>
          <a:p>
            <a:pPr indent="-139700" lvl="0" marL="91440" rtl="0" algn="l">
              <a:lnSpc>
                <a:spcPct val="90000"/>
              </a:lnSpc>
              <a:spcBef>
                <a:spcPts val="1400"/>
              </a:spcBef>
              <a:spcAft>
                <a:spcPts val="0"/>
              </a:spcAft>
              <a:buSzPts val="2200"/>
              <a:buChar char=" "/>
            </a:pPr>
            <a:r>
              <a:rPr lang="en-US">
                <a:latin typeface="Helvetica Neue"/>
                <a:ea typeface="Helvetica Neue"/>
                <a:cs typeface="Helvetica Neue"/>
                <a:sym typeface="Helvetica Neue"/>
              </a:rPr>
              <a:t>Create correlation matrix for the data of old data and new data -&gt; </a:t>
            </a:r>
            <a:r>
              <a:rPr lang="en-US">
                <a:solidFill>
                  <a:srgbClr val="00B050"/>
                </a:solidFill>
                <a:latin typeface="Helvetica Neue"/>
                <a:ea typeface="Helvetica Neue"/>
                <a:cs typeface="Helvetica Neue"/>
                <a:sym typeface="Helvetica Neue"/>
              </a:rPr>
              <a:t>Finished</a:t>
            </a:r>
            <a:r>
              <a:rPr lang="en-US">
                <a:latin typeface="Helvetica Neue"/>
                <a:ea typeface="Helvetica Neue"/>
                <a:cs typeface="Helvetica Neue"/>
                <a:sym typeface="Helvetica Neue"/>
              </a:rPr>
              <a:t> </a:t>
            </a:r>
            <a:endParaRPr/>
          </a:p>
          <a:p>
            <a:pPr indent="-139700" lvl="0" marL="91440" rtl="0" algn="l">
              <a:lnSpc>
                <a:spcPct val="90000"/>
              </a:lnSpc>
              <a:spcBef>
                <a:spcPts val="1400"/>
              </a:spcBef>
              <a:spcAft>
                <a:spcPts val="0"/>
              </a:spcAft>
              <a:buSzPts val="2200"/>
              <a:buChar char=" "/>
            </a:pPr>
            <a:r>
              <a:rPr lang="en-US">
                <a:latin typeface="Helvetica Neue"/>
                <a:ea typeface="Helvetica Neue"/>
                <a:cs typeface="Helvetica Neue"/>
                <a:sym typeface="Helvetica Neue"/>
              </a:rPr>
              <a:t>For patients with multiple rows, identify any SDOH categories that are repeated between the visit -&gt; </a:t>
            </a:r>
            <a:r>
              <a:rPr lang="en-US">
                <a:solidFill>
                  <a:srgbClr val="00B050"/>
                </a:solidFill>
                <a:latin typeface="Helvetica Neue"/>
                <a:ea typeface="Helvetica Neue"/>
                <a:cs typeface="Helvetica Neue"/>
                <a:sym typeface="Helvetica Neue"/>
              </a:rPr>
              <a:t>Finished</a:t>
            </a:r>
            <a:endParaRPr/>
          </a:p>
          <a:p>
            <a:pPr indent="-139700" lvl="0" marL="91440" rtl="0" algn="l">
              <a:lnSpc>
                <a:spcPct val="90000"/>
              </a:lnSpc>
              <a:spcBef>
                <a:spcPts val="1400"/>
              </a:spcBef>
              <a:spcAft>
                <a:spcPts val="0"/>
              </a:spcAft>
              <a:buSzPts val="2200"/>
              <a:buChar char=" "/>
            </a:pPr>
            <a:r>
              <a:rPr lang="en-US">
                <a:latin typeface="Helvetica Neue"/>
                <a:ea typeface="Helvetica Neue"/>
                <a:cs typeface="Helvetica Neue"/>
                <a:sym typeface="Helvetica Neue"/>
              </a:rPr>
              <a:t>Find if two numbers match (repeat) for transportation needs and other SDOH categories in both old and new data -&gt; </a:t>
            </a:r>
            <a:r>
              <a:rPr lang="en-US">
                <a:solidFill>
                  <a:srgbClr val="7030A0"/>
                </a:solidFill>
                <a:latin typeface="Helvetica Neue"/>
                <a:ea typeface="Helvetica Neue"/>
                <a:cs typeface="Helvetica Neue"/>
                <a:sym typeface="Helvetica Neue"/>
              </a:rPr>
              <a:t>WIP</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 </a:t>
            </a:r>
            <a:endParaRPr/>
          </a:p>
        </p:txBody>
      </p:sp>
      <p:sp>
        <p:nvSpPr>
          <p:cNvPr id="168" name="Google Shape;168;p1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The formula that I used to calculate the correlation coefficient is Pearson correlation coefficient</a:t>
            </a:r>
            <a:endParaRPr/>
          </a:p>
          <a:p>
            <a:pPr indent="-139700" lvl="0" marL="91440" rtl="0" algn="l">
              <a:lnSpc>
                <a:spcPct val="90000"/>
              </a:lnSpc>
              <a:spcBef>
                <a:spcPts val="1400"/>
              </a:spcBef>
              <a:spcAft>
                <a:spcPts val="0"/>
              </a:spcAft>
              <a:buSzPts val="2200"/>
              <a:buFont typeface="Arial"/>
              <a:buChar char="•"/>
            </a:pPr>
            <a:r>
              <a:rPr lang="en-US"/>
              <a:t>0.81 between sdoh2st_anxiety and sdoh2st_depression </a:t>
            </a:r>
            <a:endParaRPr/>
          </a:p>
          <a:p>
            <a:pPr indent="-139700" lvl="0" marL="91440" rtl="0" algn="l">
              <a:lnSpc>
                <a:spcPct val="90000"/>
              </a:lnSpc>
              <a:spcBef>
                <a:spcPts val="1400"/>
              </a:spcBef>
              <a:spcAft>
                <a:spcPts val="0"/>
              </a:spcAft>
              <a:buSzPts val="2200"/>
              <a:buFont typeface="Arial"/>
              <a:buChar char="•"/>
            </a:pPr>
            <a:r>
              <a:rPr lang="en-US"/>
              <a:t>0.7 between sdoh2st_lonely and sdoh2st_anxiety</a:t>
            </a:r>
            <a:endParaRPr/>
          </a:p>
          <a:p>
            <a:pPr indent="-139700" lvl="0" marL="91440" rtl="0" algn="l">
              <a:lnSpc>
                <a:spcPct val="90000"/>
              </a:lnSpc>
              <a:spcBef>
                <a:spcPts val="1400"/>
              </a:spcBef>
              <a:spcAft>
                <a:spcPts val="0"/>
              </a:spcAft>
              <a:buSzPts val="2200"/>
              <a:buFont typeface="Arial"/>
              <a:buChar char="•"/>
            </a:pPr>
            <a:r>
              <a:rPr lang="en-US"/>
              <a:t>0.6 between sdoh2st_loneyly and sdoh2st_depression</a:t>
            </a:r>
            <a:endParaRPr/>
          </a:p>
          <a:p>
            <a:pPr indent="0" lvl="0" marL="91440" rtl="0" algn="l">
              <a:lnSpc>
                <a:spcPct val="90000"/>
              </a:lnSpc>
              <a:spcBef>
                <a:spcPts val="1400"/>
              </a:spcBef>
              <a:spcAft>
                <a:spcPts val="0"/>
              </a:spcAft>
              <a:buSzPts val="22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FUTURE WORK </a:t>
            </a:r>
            <a:endParaRPr/>
          </a:p>
        </p:txBody>
      </p:sp>
      <p:sp>
        <p:nvSpPr>
          <p:cNvPr id="174" name="Google Shape;174;p1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Helvetica Neue"/>
                <a:ea typeface="Helvetica Neue"/>
                <a:cs typeface="Helvetica Neue"/>
                <a:sym typeface="Helvetica Neue"/>
              </a:rPr>
              <a:t> Double-check if my code is correct for the correlation matrix for the old and new data</a:t>
            </a:r>
            <a:endParaRPr/>
          </a:p>
          <a:p>
            <a:pPr indent="-139700" lvl="0" marL="91440" rtl="0" algn="l">
              <a:lnSpc>
                <a:spcPct val="90000"/>
              </a:lnSpc>
              <a:spcBef>
                <a:spcPts val="1400"/>
              </a:spcBef>
              <a:spcAft>
                <a:spcPts val="0"/>
              </a:spcAft>
              <a:buSzPts val="2200"/>
              <a:buFont typeface="Arial"/>
              <a:buChar char="•"/>
            </a:pPr>
            <a:r>
              <a:rPr lang="en-US">
                <a:latin typeface="Helvetica Neue"/>
                <a:ea typeface="Helvetica Neue"/>
                <a:cs typeface="Helvetica Neue"/>
                <a:sym typeface="Helvetica Neue"/>
              </a:rPr>
              <a:t> Double-check my code to identify which categories that are repeated between the visits to make sure everything is correct</a:t>
            </a:r>
            <a:endParaRPr>
              <a:latin typeface="Helvetica Neue"/>
              <a:ea typeface="Helvetica Neue"/>
              <a:cs typeface="Helvetica Neue"/>
              <a:sym typeface="Helvetica Neue"/>
            </a:endParaRPr>
          </a:p>
          <a:p>
            <a:pPr indent="-139700" lvl="0" marL="91440" rtl="0" algn="l">
              <a:lnSpc>
                <a:spcPct val="90000"/>
              </a:lnSpc>
              <a:spcBef>
                <a:spcPts val="1400"/>
              </a:spcBef>
              <a:spcAft>
                <a:spcPts val="0"/>
              </a:spcAft>
              <a:buSzPts val="2200"/>
              <a:buFont typeface="Arial"/>
              <a:buChar char="•"/>
            </a:pPr>
            <a:r>
              <a:rPr lang="en-US">
                <a:latin typeface="Helvetica Neue"/>
                <a:ea typeface="Helvetica Neue"/>
                <a:cs typeface="Helvetica Neue"/>
                <a:sym typeface="Helvetica Neue"/>
              </a:rPr>
              <a:t>Finishing finding if two numbers match (repeat) for transportation needs and other SDOH categories in both old and new data. Check if there are notes left behind for both old and new resource notes for a particular patient</a:t>
            </a:r>
            <a:endParaRPr/>
          </a:p>
          <a:p>
            <a:pPr indent="0" lvl="0" marL="0" rtl="0" algn="l">
              <a:lnSpc>
                <a:spcPct val="90000"/>
              </a:lnSpc>
              <a:spcBef>
                <a:spcPts val="1400"/>
              </a:spcBef>
              <a:spcAft>
                <a:spcPts val="0"/>
              </a:spcAft>
              <a:buSzPts val="2200"/>
              <a:buNone/>
            </a:pPr>
            <a:r>
              <a:t/>
            </a:r>
            <a:endParaRPr>
              <a:solidFill>
                <a:schemeClr val="dk1"/>
              </a:solidFill>
              <a:latin typeface="Helvetica Neue"/>
              <a:ea typeface="Helvetica Neue"/>
              <a:cs typeface="Helvetica Neue"/>
              <a:sym typeface="Helvetica Neue"/>
            </a:endParaRPr>
          </a:p>
          <a:p>
            <a:pPr indent="0" lvl="0" marL="91440" rtl="0" algn="l">
              <a:lnSpc>
                <a:spcPct val="90000"/>
              </a:lnSpc>
              <a:spcBef>
                <a:spcPts val="1400"/>
              </a:spcBef>
              <a:spcAft>
                <a:spcPts val="0"/>
              </a:spcAft>
              <a:buSzPts val="2200"/>
              <a:buFont typeface="Arial"/>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12"/>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0" name="Google Shape;180;p12"/>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181" name="Google Shape;181;p12"/>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SINAI (SUHI) PROJECT</a:t>
            </a:r>
            <a:endParaRPr/>
          </a:p>
        </p:txBody>
      </p:sp>
      <p:sp>
        <p:nvSpPr>
          <p:cNvPr id="182" name="Google Shape;182;p12"/>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January 31</a:t>
            </a:r>
            <a:r>
              <a:rPr baseline="30000" lang="en-US">
                <a:solidFill>
                  <a:srgbClr val="FFFFFF"/>
                </a:solidFill>
              </a:rPr>
              <a:t>th </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183" name="Google Shape;183;p12"/>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184" name="Google Shape;184;p12"/>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185" name="Google Shape;185;p12"/>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RESEARCH QUESTION</a:t>
            </a:r>
            <a:endParaRPr/>
          </a:p>
        </p:txBody>
      </p:sp>
      <p:sp>
        <p:nvSpPr>
          <p:cNvPr id="191" name="Google Shape;191;p13"/>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HYPOTHESIS</a:t>
            </a:r>
            <a:endParaRPr/>
          </a:p>
        </p:txBody>
      </p:sp>
      <p:sp>
        <p:nvSpPr>
          <p:cNvPr id="197" name="Google Shape;197;p1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METHODOLOGY</a:t>
            </a:r>
            <a:endParaRPr/>
          </a:p>
        </p:txBody>
      </p:sp>
      <p:sp>
        <p:nvSpPr>
          <p:cNvPr id="203" name="Google Shape;203;p1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WORKS</a:t>
            </a:r>
            <a:endParaRPr/>
          </a:p>
        </p:txBody>
      </p:sp>
      <p:sp>
        <p:nvSpPr>
          <p:cNvPr id="209" name="Google Shape;209;p1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en-US">
                <a:latin typeface="Times New Roman"/>
                <a:ea typeface="Times New Roman"/>
                <a:cs typeface="Times New Roman"/>
                <a:sym typeface="Times New Roman"/>
              </a:rPr>
              <a:t>Check patients who have resource notes (1 means have, 0 (removed) means don’t have) left behind for both visits. -&gt; </a:t>
            </a:r>
            <a:r>
              <a:rPr lang="en-US">
                <a:solidFill>
                  <a:srgbClr val="00B050"/>
                </a:solidFill>
                <a:latin typeface="Times New Roman"/>
                <a:ea typeface="Times New Roman"/>
                <a:cs typeface="Times New Roman"/>
                <a:sym typeface="Times New Roman"/>
              </a:rPr>
              <a:t>Finished</a:t>
            </a:r>
            <a:r>
              <a:rPr lang="en-US">
                <a:latin typeface="Times New Roman"/>
                <a:ea typeface="Times New Roman"/>
                <a:cs typeface="Times New Roman"/>
                <a:sym typeface="Times New Roman"/>
              </a:rPr>
              <a:t> </a:t>
            </a:r>
            <a:endParaRPr/>
          </a:p>
          <a:p>
            <a:pPr indent="0" lvl="0" marL="91440" rtl="0" algn="l">
              <a:lnSpc>
                <a:spcPct val="90000"/>
              </a:lnSpc>
              <a:spcBef>
                <a:spcPts val="1400"/>
              </a:spcBef>
              <a:spcAft>
                <a:spcPts val="0"/>
              </a:spcAft>
              <a:buSzPts val="2200"/>
              <a:buNone/>
            </a:pPr>
            <a:r>
              <a:t/>
            </a:r>
            <a:endParaRPr/>
          </a:p>
        </p:txBody>
      </p:sp>
      <p:pic>
        <p:nvPicPr>
          <p:cNvPr descr="A screenshot of a computer&#10;&#10;AI-generated content may be incorrect." id="210" name="Google Shape;210;p16"/>
          <p:cNvPicPr preferRelativeResize="0"/>
          <p:nvPr/>
        </p:nvPicPr>
        <p:blipFill rotWithShape="1">
          <a:blip r:embed="rId3">
            <a:alphaModFix/>
          </a:blip>
          <a:srcRect b="0" l="0" r="0" t="0"/>
          <a:stretch/>
        </p:blipFill>
        <p:spPr>
          <a:xfrm>
            <a:off x="2965269" y="3573253"/>
            <a:ext cx="9226731" cy="32847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NEXT STEPS</a:t>
            </a:r>
            <a:endParaRPr/>
          </a:p>
        </p:txBody>
      </p:sp>
      <p:sp>
        <p:nvSpPr>
          <p:cNvPr id="216" name="Google Shape;216;p1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Create a column indicating if the SDOH tabular data number matches resource notes.</a:t>
            </a:r>
            <a:endParaRPr/>
          </a:p>
          <a:p>
            <a:pPr indent="-139700" lvl="0" marL="91440" rtl="0" algn="l">
              <a:lnSpc>
                <a:spcPct val="90000"/>
              </a:lnSpc>
              <a:spcBef>
                <a:spcPts val="1400"/>
              </a:spcBef>
              <a:spcAft>
                <a:spcPts val="0"/>
              </a:spcAft>
              <a:buSzPts val="2200"/>
              <a:buFont typeface="Arial"/>
              <a:buChar char="•"/>
            </a:pPr>
            <a:r>
              <a:rPr lang="en-US"/>
              <a:t>Create a mapping between tabular and resources notes column name</a:t>
            </a:r>
            <a:endParaRPr/>
          </a:p>
        </p:txBody>
      </p:sp>
      <p:graphicFrame>
        <p:nvGraphicFramePr>
          <p:cNvPr id="217" name="Google Shape;217;p17"/>
          <p:cNvGraphicFramePr/>
          <p:nvPr/>
        </p:nvGraphicFramePr>
        <p:xfrm>
          <a:off x="2618509" y="3616036"/>
          <a:ext cx="3000000" cy="3000000"/>
        </p:xfrm>
        <a:graphic>
          <a:graphicData uri="http://schemas.openxmlformats.org/drawingml/2006/table">
            <a:tbl>
              <a:tblPr bandRow="1" firstRow="1">
                <a:noFill/>
                <a:tableStyleId>{6BA79578-6EBD-4A30-9A00-4C205B78CB78}</a:tableStyleId>
              </a:tblPr>
              <a:tblGrid>
                <a:gridCol w="2356425"/>
                <a:gridCol w="2356425"/>
                <a:gridCol w="2356425"/>
                <a:gridCol w="2356425"/>
              </a:tblGrid>
              <a:tr h="854775">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u="none" cap="none" strike="noStrike"/>
                        <a:t>record_id</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u="none" cap="none" strike="noStrike"/>
                        <a:t>Sdoh_trans (tabular)</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u="none" cap="none" strike="noStrike"/>
                        <a:t>Trans_res (categorical)</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u="none" cap="none" strike="noStrike"/>
                        <a:t>Complete_data</a:t>
                      </a:r>
                      <a:endParaRPr sz="1800" u="none" cap="none" strike="noStrike"/>
                    </a:p>
                    <a:p>
                      <a:pPr indent="0" lvl="0" marL="0" marR="0" rtl="0" algn="l">
                        <a:spcBef>
                          <a:spcPts val="0"/>
                        </a:spcBef>
                        <a:spcAft>
                          <a:spcPts val="0"/>
                        </a:spcAft>
                        <a:buNone/>
                      </a:pPr>
                      <a:r>
                        <a:t/>
                      </a:r>
                      <a:endParaRPr sz="1800"/>
                    </a:p>
                  </a:txBody>
                  <a:tcPr marT="45725" marB="45725" marR="91450" marL="91450"/>
                </a:tc>
              </a:tr>
              <a:tr h="854775">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a:t>0 ( don’t need) or 1 (need)</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a:t>1 (have notes)</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r>
              <a:tr h="495225">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0,1</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Twentieth Century"/>
                        <a:buNone/>
                      </a:pPr>
                      <a:r>
                        <a:rPr lang="en-US" sz="1800"/>
                        <a:t>N/A</a:t>
                      </a:r>
                      <a:endParaRPr/>
                    </a:p>
                  </a:txBody>
                  <a:tcPr marT="45725" marB="45725" marR="91450" marL="91450"/>
                </a:tc>
                <a:tc>
                  <a:txBody>
                    <a:bodyPr/>
                    <a:lstStyle/>
                    <a:p>
                      <a:pPr indent="0" lvl="0" marL="0" marR="0" rtl="0" algn="l">
                        <a:spcBef>
                          <a:spcPts val="0"/>
                        </a:spcBef>
                        <a:spcAft>
                          <a:spcPts val="0"/>
                        </a:spcAft>
                        <a:buNone/>
                      </a:pPr>
                      <a:r>
                        <a:rPr lang="en-US" sz="1800"/>
                        <a:t>2</a:t>
                      </a:r>
                      <a:endParaRPr/>
                    </a:p>
                  </a:txBody>
                  <a:tcPr marT="45725" marB="45725" marR="91450" marL="91450"/>
                </a:tc>
              </a:tr>
              <a:tr h="495225">
                <a:tc>
                  <a:txBody>
                    <a:bodyPr/>
                    <a:lstStyle/>
                    <a:p>
                      <a:pPr indent="0" lvl="0" marL="0" marR="0" rtl="0" algn="l">
                        <a:spcBef>
                          <a:spcPts val="0"/>
                        </a:spcBef>
                        <a:spcAft>
                          <a:spcPts val="0"/>
                        </a:spcAft>
                        <a:buNone/>
                      </a:pPr>
                      <a:r>
                        <a:rPr lang="en-US" sz="1800"/>
                        <a:t>6</a:t>
                      </a:r>
                      <a:endParaRPr/>
                    </a:p>
                  </a:txBody>
                  <a:tcPr marT="45725" marB="45725" marR="91450" marL="91450"/>
                </a:tc>
                <a:tc>
                  <a:txBody>
                    <a:bodyPr/>
                    <a:lstStyle/>
                    <a:p>
                      <a:pPr indent="0" lvl="0" marL="0" marR="0" rtl="0" algn="l">
                        <a:spcBef>
                          <a:spcPts val="0"/>
                        </a:spcBef>
                        <a:spcAft>
                          <a:spcPts val="0"/>
                        </a:spcAft>
                        <a:buNone/>
                      </a:pPr>
                      <a:r>
                        <a:rPr lang="en-US" sz="1800"/>
                        <a:t>N/A</a:t>
                      </a:r>
                      <a:endParaRPr/>
                    </a:p>
                  </a:txBody>
                  <a:tcPr marT="45725" marB="45725" marR="91450" marL="91450"/>
                </a:tc>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3</a:t>
                      </a:r>
                      <a:endParaRPr/>
                    </a:p>
                  </a:txBody>
                  <a:tcPr marT="45725" marB="45725" marR="91450" marL="91450"/>
                </a:tc>
              </a:tr>
              <a:tr h="495225">
                <a:tc>
                  <a:txBody>
                    <a:bodyPr/>
                    <a:lstStyle/>
                    <a:p>
                      <a:pPr indent="0" lvl="0" marL="0" marR="0" rtl="0" algn="l">
                        <a:spcBef>
                          <a:spcPts val="0"/>
                        </a:spcBef>
                        <a:spcAft>
                          <a:spcPts val="0"/>
                        </a:spcAft>
                        <a:buNone/>
                      </a:pPr>
                      <a:r>
                        <a:rPr lang="en-US" sz="1800"/>
                        <a:t>8</a:t>
                      </a:r>
                      <a:endParaRPr/>
                    </a:p>
                  </a:txBody>
                  <a:tcPr marT="45725" marB="45725" marR="91450" marL="91450"/>
                </a:tc>
                <a:tc>
                  <a:txBody>
                    <a:bodyPr/>
                    <a:lstStyle/>
                    <a:p>
                      <a:pPr indent="0" lvl="0" marL="0" marR="0" rtl="0" algn="l">
                        <a:spcBef>
                          <a:spcPts val="0"/>
                        </a:spcBef>
                        <a:spcAft>
                          <a:spcPts val="0"/>
                        </a:spcAft>
                        <a:buNone/>
                      </a:pPr>
                      <a:r>
                        <a:rPr lang="en-US" sz="1800"/>
                        <a:t>N/A</a:t>
                      </a:r>
                      <a:endParaRPr/>
                    </a:p>
                  </a:txBody>
                  <a:tcPr marT="45725" marB="45725" marR="91450" marL="91450"/>
                </a:tc>
                <a:tc>
                  <a:txBody>
                    <a:bodyPr/>
                    <a:lstStyle/>
                    <a:p>
                      <a:pPr indent="0" lvl="0" marL="0" marR="0" rtl="0" algn="l">
                        <a:spcBef>
                          <a:spcPts val="0"/>
                        </a:spcBef>
                        <a:spcAft>
                          <a:spcPts val="0"/>
                        </a:spcAft>
                        <a:buNone/>
                      </a:pPr>
                      <a:r>
                        <a:rPr lang="en-US" sz="1800"/>
                        <a:t>N/A</a:t>
                      </a:r>
                      <a:endParaRPr/>
                    </a:p>
                  </a:txBody>
                  <a:tcPr marT="45725" marB="45725" marR="91450" marL="91450"/>
                </a:tc>
                <a:tc>
                  <a:txBody>
                    <a:bodyPr/>
                    <a:lstStyle/>
                    <a:p>
                      <a:pPr indent="0" lvl="0" marL="0" marR="0" rtl="0" algn="l">
                        <a:spcBef>
                          <a:spcPts val="0"/>
                        </a:spcBef>
                        <a:spcAft>
                          <a:spcPts val="0"/>
                        </a:spcAft>
                        <a:buNone/>
                      </a:pPr>
                      <a:r>
                        <a:rPr lang="en-US" sz="1800"/>
                        <a:t>N/A</a:t>
                      </a:r>
                      <a:endParaRPr/>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QUESTIONS</a:t>
            </a:r>
            <a:endParaRPr/>
          </a:p>
        </p:txBody>
      </p:sp>
      <p:sp>
        <p:nvSpPr>
          <p:cNvPr id="223" name="Google Shape;223;p1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7" name="Shape 227"/>
        <p:cNvGrpSpPr/>
        <p:nvPr/>
      </p:nvGrpSpPr>
      <p:grpSpPr>
        <a:xfrm>
          <a:off x="0" y="0"/>
          <a:ext cx="0" cy="0"/>
          <a:chOff x="0" y="0"/>
          <a:chExt cx="0" cy="0"/>
        </a:xfrm>
      </p:grpSpPr>
      <p:sp>
        <p:nvSpPr>
          <p:cNvPr id="228" name="Google Shape;228;p19"/>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29" name="Google Shape;229;p19"/>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30" name="Google Shape;230;p19"/>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PREDICT READMISSION RATE BASED ON SDOH CATEGORIES FOR SINAI HOSPITAL (SUHI) PROJECT</a:t>
            </a:r>
            <a:endParaRPr/>
          </a:p>
        </p:txBody>
      </p:sp>
      <p:sp>
        <p:nvSpPr>
          <p:cNvPr id="231" name="Google Shape;231;p19"/>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February 17</a:t>
            </a:r>
            <a:r>
              <a:rPr baseline="30000" lang="en-US">
                <a:solidFill>
                  <a:srgbClr val="FFFFFF"/>
                </a:solidFill>
              </a:rPr>
              <a:t>th </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232" name="Google Shape;232;p19"/>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233" name="Google Shape;233;p19"/>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234" name="Google Shape;234;p19"/>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RESEARCH QUESTION</a:t>
            </a:r>
            <a:endParaRPr/>
          </a:p>
        </p:txBody>
      </p:sp>
      <p:sp>
        <p:nvSpPr>
          <p:cNvPr id="240" name="Google Shape;240;p20"/>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 How does the frequency of resource notes correlate with patient readmission patterns in the dataset?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HYPOTHESIS </a:t>
            </a:r>
            <a:endParaRPr/>
          </a:p>
        </p:txBody>
      </p:sp>
      <p:sp>
        <p:nvSpPr>
          <p:cNvPr id="246" name="Google Shape;246;p2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 Patients who receive a higher number of resource notes are more likely to have higher readmission rates compared to those who receive fewer or no resource notes.</a:t>
            </a:r>
            <a:endParaRPr/>
          </a:p>
          <a:p>
            <a:pPr indent="0" lvl="0" marL="91440" rtl="0" algn="l">
              <a:lnSpc>
                <a:spcPct val="90000"/>
              </a:lnSpc>
              <a:spcBef>
                <a:spcPts val="1400"/>
              </a:spcBef>
              <a:spcAft>
                <a:spcPts val="0"/>
              </a:spcAft>
              <a:buSzPts val="2200"/>
              <a:buFont typeface="Arial"/>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 </a:t>
            </a:r>
            <a:endParaRPr/>
          </a:p>
        </p:txBody>
      </p:sp>
      <p:sp>
        <p:nvSpPr>
          <p:cNvPr id="253" name="Google Shape;253;p22"/>
          <p:cNvSpPr txBox="1"/>
          <p:nvPr>
            <p:ph idx="1" type="body"/>
          </p:nvPr>
        </p:nvSpPr>
        <p:spPr>
          <a:xfrm>
            <a:off x="704538" y="2286000"/>
            <a:ext cx="10912839"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Check all patients (instead of patients who have multiple visits) to indicate who has any resource notes left behind. -&gt; </a:t>
            </a:r>
            <a:r>
              <a:rPr lang="en-US">
                <a:solidFill>
                  <a:srgbClr val="00B050"/>
                </a:solidFill>
                <a:latin typeface="Times New Roman"/>
                <a:ea typeface="Times New Roman"/>
                <a:cs typeface="Times New Roman"/>
                <a:sym typeface="Times New Roman"/>
              </a:rPr>
              <a:t>Finished</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Count the frequency of each resource note and identify the most frequently noted resources. -&gt; </a:t>
            </a:r>
            <a:r>
              <a:rPr lang="en-US">
                <a:solidFill>
                  <a:srgbClr val="00B050"/>
                </a:solidFill>
                <a:latin typeface="Times New Roman"/>
                <a:ea typeface="Times New Roman"/>
                <a:cs typeface="Times New Roman"/>
                <a:sym typeface="Times New Roman"/>
              </a:rPr>
              <a:t>Finished</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Calculate the total readmit rate for each type of resource notes -&gt; </a:t>
            </a:r>
            <a:r>
              <a:rPr lang="en-US">
                <a:solidFill>
                  <a:srgbClr val="00B050"/>
                </a:solidFill>
                <a:latin typeface="Times New Roman"/>
                <a:ea typeface="Times New Roman"/>
                <a:cs typeface="Times New Roman"/>
                <a:sym typeface="Times New Roman"/>
              </a:rPr>
              <a:t>Finished</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RESOURCES NOTES FREQUENCY</a:t>
            </a:r>
            <a:endParaRPr/>
          </a:p>
        </p:txBody>
      </p:sp>
      <p:sp>
        <p:nvSpPr>
          <p:cNvPr id="259" name="Google Shape;259;p23"/>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There are 441 patients in total who have resources notes left behind</a:t>
            </a:r>
            <a:endParaRPr/>
          </a:p>
          <a:p>
            <a:pPr indent="0" lvl="0" marL="91440" rtl="0" algn="l">
              <a:lnSpc>
                <a:spcPct val="90000"/>
              </a:lnSpc>
              <a:spcBef>
                <a:spcPts val="1400"/>
              </a:spcBef>
              <a:spcAft>
                <a:spcPts val="0"/>
              </a:spcAft>
              <a:buSzPts val="2200"/>
              <a:buFont typeface="Arial"/>
              <a:buNone/>
            </a:pPr>
            <a:r>
              <a:t/>
            </a:r>
            <a:endParaRPr>
              <a:latin typeface="Times New Roman"/>
              <a:ea typeface="Times New Roman"/>
              <a:cs typeface="Times New Roman"/>
              <a:sym typeface="Times New Roman"/>
            </a:endParaRPr>
          </a:p>
          <a:p>
            <a:pPr indent="0" lvl="0" marL="91440" rtl="0" algn="l">
              <a:lnSpc>
                <a:spcPct val="90000"/>
              </a:lnSpc>
              <a:spcBef>
                <a:spcPts val="1400"/>
              </a:spcBef>
              <a:spcAft>
                <a:spcPts val="0"/>
              </a:spcAft>
              <a:buSzPts val="2200"/>
              <a:buFont typeface="Arial"/>
              <a:buNone/>
            </a:pPr>
            <a:r>
              <a:t/>
            </a:r>
            <a:endParaRPr/>
          </a:p>
        </p:txBody>
      </p:sp>
      <p:graphicFrame>
        <p:nvGraphicFramePr>
          <p:cNvPr id="260" name="Google Shape;260;p23"/>
          <p:cNvGraphicFramePr/>
          <p:nvPr/>
        </p:nvGraphicFramePr>
        <p:xfrm>
          <a:off x="2743200" y="3886200"/>
          <a:ext cx="3000000" cy="3000000"/>
        </p:xfrm>
        <a:graphic>
          <a:graphicData uri="http://schemas.openxmlformats.org/drawingml/2006/table">
            <a:tbl>
              <a:tblPr bandRow="1" firstRow="1">
                <a:noFill/>
                <a:tableStyleId>{6BA79578-6EBD-4A30-9A00-4C205B78CB78}</a:tableStyleId>
              </a:tblPr>
              <a:tblGrid>
                <a:gridCol w="4724400"/>
                <a:gridCol w="4724400"/>
              </a:tblGrid>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Categories</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Frequency (times)</a:t>
                      </a:r>
                      <a:endParaRPr/>
                    </a:p>
                  </a:txBody>
                  <a:tcPr marT="45725" marB="45725" marR="91450" marL="91450"/>
                </a:tc>
              </a:tr>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other_res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134</a:t>
                      </a:r>
                      <a:endParaRPr/>
                    </a:p>
                  </a:txBody>
                  <a:tcPr marT="45725" marB="45725" marR="91450" marL="91450"/>
                </a:tc>
              </a:tr>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bill_rx_healthed_res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100</a:t>
                      </a:r>
                      <a:endParaRPr/>
                    </a:p>
                  </a:txBody>
                  <a:tcPr marT="45725" marB="45725" marR="91450" marL="91450"/>
                </a:tc>
              </a:tr>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trans_res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92</a:t>
                      </a:r>
                      <a:endParaRPr/>
                    </a:p>
                  </a:txBody>
                  <a:tcPr marT="45725" marB="45725" marR="91450" marL="91450"/>
                </a:tc>
              </a:tr>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food_res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91</a:t>
                      </a:r>
                      <a:endParaRPr/>
                    </a:p>
                  </a:txBody>
                  <a:tcPr marT="45725" marB="45725" marR="91450" marL="91450"/>
                </a:tc>
              </a:tr>
              <a:tr h="4953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util_res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83</a:t>
                      </a:r>
                      <a:endParaRPr/>
                    </a:p>
                  </a:txBody>
                  <a:tcPr marT="45725" marB="45725" marR="91450" marL="91450"/>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FOR EACH CATEGORIES</a:t>
            </a:r>
            <a:endParaRPr/>
          </a:p>
        </p:txBody>
      </p:sp>
      <p:graphicFrame>
        <p:nvGraphicFramePr>
          <p:cNvPr id="266" name="Google Shape;266;p24"/>
          <p:cNvGraphicFramePr/>
          <p:nvPr/>
        </p:nvGraphicFramePr>
        <p:xfrm>
          <a:off x="1274164" y="4127446"/>
          <a:ext cx="3000000" cy="3000000"/>
        </p:xfrm>
        <a:graphic>
          <a:graphicData uri="http://schemas.openxmlformats.org/drawingml/2006/table">
            <a:tbl>
              <a:tblPr bandRow="1" firstRow="1">
                <a:noFill/>
                <a:tableStyleId>{6BA79578-6EBD-4A30-9A00-4C205B78CB78}</a:tableStyleId>
              </a:tblPr>
              <a:tblGrid>
                <a:gridCol w="2729450"/>
                <a:gridCol w="2729450"/>
                <a:gridCol w="2729450"/>
                <a:gridCol w="2729450"/>
              </a:tblGrid>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Categories     </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Frequency</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Total Readmitted</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Readmission Rate </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asthma_res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40%</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PCP_res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5</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2</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40%</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employ_nores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8</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37.5%</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emotional_res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33.33%</a:t>
                      </a:r>
                      <a:endParaRPr/>
                    </a:p>
                  </a:txBody>
                  <a:tcPr marT="45725" marB="45725" marR="91450" marL="91450"/>
                </a:tc>
              </a:tr>
            </a:tbl>
          </a:graphicData>
        </a:graphic>
      </p:graphicFrame>
      <p:sp>
        <p:nvSpPr>
          <p:cNvPr id="267" name="Google Shape;267;p24"/>
          <p:cNvSpPr txBox="1"/>
          <p:nvPr/>
        </p:nvSpPr>
        <p:spPr>
          <a:xfrm>
            <a:off x="1024128" y="1802333"/>
            <a:ext cx="10443347" cy="110799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Some resources show high readmission rates, meaning patients who had these noted were more likely to return</a:t>
            </a:r>
            <a:endParaRPr/>
          </a:p>
          <a:p>
            <a:pPr indent="-203200" lvl="0" marL="342900" marR="0" rtl="0" algn="l">
              <a:spcBef>
                <a:spcPts val="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NEXT STEPS</a:t>
            </a:r>
            <a:endParaRPr/>
          </a:p>
        </p:txBody>
      </p:sp>
      <p:sp>
        <p:nvSpPr>
          <p:cNvPr id="273" name="Google Shape;273;p25"/>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Read through the document about Yule Q that Dr. Tchoua sent </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Analyze whether patients with food resources (food_res) have different readmission rates compared to those without (food_nores) by applying Yule-Q.</a:t>
            </a:r>
            <a:endParaRPr/>
          </a:p>
          <a:p>
            <a:pPr indent="0" lvl="0" marL="91440" rtl="0" algn="l">
              <a:lnSpc>
                <a:spcPct val="90000"/>
              </a:lnSpc>
              <a:spcBef>
                <a:spcPts val="1400"/>
              </a:spcBef>
              <a:spcAft>
                <a:spcPts val="0"/>
              </a:spcAft>
              <a:buSzPts val="2200"/>
              <a:buFont typeface="Arial"/>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26"/>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79" name="Google Shape;279;p26"/>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280" name="Google Shape;280;p26"/>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PREDICT READMISSION RATE BASED ON SDOH CATEGORIES FOR SINAI HOSPITAL (SUHI) PROJECT</a:t>
            </a:r>
            <a:endParaRPr/>
          </a:p>
        </p:txBody>
      </p:sp>
      <p:sp>
        <p:nvSpPr>
          <p:cNvPr id="281" name="Google Shape;281;p26"/>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February 21</a:t>
            </a:r>
            <a:r>
              <a:rPr baseline="30000" lang="en-US">
                <a:solidFill>
                  <a:srgbClr val="FFFFFF"/>
                </a:solidFill>
              </a:rPr>
              <a:t>th </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282" name="Google Shape;282;p26"/>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283" name="Google Shape;283;p26"/>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284" name="Google Shape;284;p26"/>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RESEARCH QUESTION</a:t>
            </a:r>
            <a:endParaRPr/>
          </a:p>
        </p:txBody>
      </p:sp>
      <p:sp>
        <p:nvSpPr>
          <p:cNvPr id="290" name="Google Shape;290;p27"/>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Font typeface="Arial"/>
              <a:buNone/>
            </a:pPr>
            <a:r>
              <a:t/>
            </a:r>
            <a:endParaRPr>
              <a:latin typeface="Times New Roman"/>
              <a:ea typeface="Times New Roman"/>
              <a:cs typeface="Times New Roman"/>
              <a:sym typeface="Times New Roman"/>
            </a:endParaRPr>
          </a:p>
          <a:p>
            <a:pPr indent="-139700" lvl="0" marL="91440" rtl="0" algn="l">
              <a:lnSpc>
                <a:spcPct val="90000"/>
              </a:lnSpc>
              <a:spcBef>
                <a:spcPts val="1400"/>
              </a:spcBef>
              <a:spcAft>
                <a:spcPts val="0"/>
              </a:spcAft>
              <a:buSzPts val="2200"/>
              <a:buFont typeface="Arial"/>
              <a:buChar char="•"/>
            </a:pPr>
            <a:r>
              <a:rPr b="1" lang="en-US">
                <a:latin typeface="Times New Roman"/>
                <a:ea typeface="Times New Roman"/>
                <a:cs typeface="Times New Roman"/>
                <a:sym typeface="Times New Roman"/>
              </a:rPr>
              <a:t> Big RQ: How can we leverage Community Health Worker (CHW) notes to supplement tabular features and improve the classification of ED readmissions? </a:t>
            </a:r>
            <a:endParaRPr/>
          </a:p>
          <a:p>
            <a:pPr indent="-146050" lvl="0" marL="91440" rtl="0" algn="l">
              <a:lnSpc>
                <a:spcPct val="90000"/>
              </a:lnSpc>
              <a:spcBef>
                <a:spcPts val="1400"/>
              </a:spcBef>
              <a:spcAft>
                <a:spcPts val="0"/>
              </a:spcAft>
              <a:buSzPts val="2300"/>
              <a:buFont typeface="Arial"/>
              <a:buChar char="•"/>
            </a:pPr>
            <a:r>
              <a:rPr lang="en-US" sz="2300">
                <a:latin typeface="Times New Roman"/>
                <a:ea typeface="Times New Roman"/>
                <a:cs typeface="Times New Roman"/>
                <a:sym typeface="Times New Roman"/>
              </a:rPr>
              <a:t> How does the frequency of resource notes correlate with patient readmission patterns in the dataset?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8"/>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HYPOTHESIS </a:t>
            </a:r>
            <a:endParaRPr/>
          </a:p>
        </p:txBody>
      </p:sp>
      <p:sp>
        <p:nvSpPr>
          <p:cNvPr id="296" name="Google Shape;296;p28"/>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 Patients who receive a higher number of resource notes are more likely to have higher readmission rates compared to those who receive fewer or no resource notes.</a:t>
            </a:r>
            <a:endParaRPr/>
          </a:p>
          <a:p>
            <a:pPr indent="0" lvl="0" marL="91440" rtl="0" algn="l">
              <a:lnSpc>
                <a:spcPct val="90000"/>
              </a:lnSpc>
              <a:spcBef>
                <a:spcPts val="1400"/>
              </a:spcBef>
              <a:spcAft>
                <a:spcPts val="0"/>
              </a:spcAft>
              <a:buSzPts val="2200"/>
              <a:buFont typeface="Arial"/>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FOR EACH CATEGORIES</a:t>
            </a:r>
            <a:endParaRPr/>
          </a:p>
        </p:txBody>
      </p:sp>
      <p:graphicFrame>
        <p:nvGraphicFramePr>
          <p:cNvPr id="302" name="Google Shape;302;p29"/>
          <p:cNvGraphicFramePr/>
          <p:nvPr/>
        </p:nvGraphicFramePr>
        <p:xfrm>
          <a:off x="1274164" y="4127446"/>
          <a:ext cx="3000000" cy="3000000"/>
        </p:xfrm>
        <a:graphic>
          <a:graphicData uri="http://schemas.openxmlformats.org/drawingml/2006/table">
            <a:tbl>
              <a:tblPr bandRow="1" firstRow="1">
                <a:noFill/>
                <a:tableStyleId>{6BA79578-6EBD-4A30-9A00-4C205B78CB78}</a:tableStyleId>
              </a:tblPr>
              <a:tblGrid>
                <a:gridCol w="2729450"/>
                <a:gridCol w="2729450"/>
                <a:gridCol w="2729450"/>
                <a:gridCol w="2729450"/>
              </a:tblGrid>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Categories     </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Frequency</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Total Readmitted</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Readmission Rate </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asthma_res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40%</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PCP_res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5</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2</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40%</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employ_nores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8</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37.5%</a:t>
                      </a:r>
                      <a:endParaRPr/>
                    </a:p>
                  </a:txBody>
                  <a:tcPr marT="45725" marB="45725" marR="91450" marL="91450"/>
                </a:tc>
              </a:tr>
              <a:tr h="546100">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emotional_res</a:t>
                      </a:r>
                      <a:endParaRPr sz="24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10</a:t>
                      </a:r>
                      <a:endParaRPr/>
                    </a:p>
                  </a:txBody>
                  <a:tcPr marT="45725" marB="45725" marR="91450" marL="91450"/>
                </a:tc>
                <a:tc>
                  <a:txBody>
                    <a:bodyPr/>
                    <a:lstStyle/>
                    <a:p>
                      <a:pPr indent="0" lvl="0" marL="0" marR="0" rtl="0" algn="l">
                        <a:spcBef>
                          <a:spcPts val="0"/>
                        </a:spcBef>
                        <a:spcAft>
                          <a:spcPts val="0"/>
                        </a:spcAft>
                        <a:buNone/>
                      </a:pPr>
                      <a:r>
                        <a:rPr lang="en-US" sz="2400">
                          <a:latin typeface="Times New Roman"/>
                          <a:ea typeface="Times New Roman"/>
                          <a:cs typeface="Times New Roman"/>
                          <a:sym typeface="Times New Roman"/>
                        </a:rPr>
                        <a:t>33.33%</a:t>
                      </a:r>
                      <a:endParaRPr/>
                    </a:p>
                  </a:txBody>
                  <a:tcPr marT="45725" marB="45725" marR="91450" marL="91450"/>
                </a:tc>
              </a:tr>
            </a:tbl>
          </a:graphicData>
        </a:graphic>
      </p:graphicFrame>
      <p:sp>
        <p:nvSpPr>
          <p:cNvPr id="303" name="Google Shape;303;p29"/>
          <p:cNvSpPr txBox="1"/>
          <p:nvPr/>
        </p:nvSpPr>
        <p:spPr>
          <a:xfrm>
            <a:off x="1024128" y="1802333"/>
            <a:ext cx="10443347" cy="1107996"/>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200"/>
              <a:buFont typeface="Arial"/>
              <a:buChar char="•"/>
            </a:pPr>
            <a:r>
              <a:rPr lang="en-US" sz="2200">
                <a:solidFill>
                  <a:schemeClr val="dk1"/>
                </a:solidFill>
                <a:latin typeface="Times New Roman"/>
                <a:ea typeface="Times New Roman"/>
                <a:cs typeface="Times New Roman"/>
                <a:sym typeface="Times New Roman"/>
              </a:rPr>
              <a:t>Some resources show high readmission rates, meaning patients who had these noted were more likely to return</a:t>
            </a:r>
            <a:endParaRPr/>
          </a:p>
          <a:p>
            <a:pPr indent="-203200" lvl="0" marL="342900" marR="0" rtl="0" algn="l">
              <a:spcBef>
                <a:spcPts val="0"/>
              </a:spcBef>
              <a:spcAft>
                <a:spcPts val="0"/>
              </a:spcAft>
              <a:buClr>
                <a:schemeClr val="dk1"/>
              </a:buClr>
              <a:buSzPts val="2200"/>
              <a:buFont typeface="Arial"/>
              <a:buNone/>
            </a:pPr>
            <a:r>
              <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 </a:t>
            </a:r>
            <a:endParaRPr/>
          </a:p>
        </p:txBody>
      </p:sp>
      <p:sp>
        <p:nvSpPr>
          <p:cNvPr id="309" name="Google Shape;309;p30"/>
          <p:cNvSpPr txBox="1"/>
          <p:nvPr>
            <p:ph idx="1" type="body"/>
          </p:nvPr>
        </p:nvSpPr>
        <p:spPr>
          <a:xfrm>
            <a:off x="1024128" y="2286000"/>
            <a:ext cx="10653210"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Read through the document about Yule Q that Dr. Tchoua sent -&gt; </a:t>
            </a:r>
            <a:r>
              <a:rPr lang="en-US">
                <a:solidFill>
                  <a:srgbClr val="7030A0"/>
                </a:solidFill>
                <a:latin typeface="Times New Roman"/>
                <a:ea typeface="Times New Roman"/>
                <a:cs typeface="Times New Roman"/>
                <a:sym typeface="Times New Roman"/>
              </a:rPr>
              <a:t>WIP</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Writing an abstract for CAURS 2025 -&gt; </a:t>
            </a:r>
            <a:r>
              <a:rPr lang="en-US">
                <a:solidFill>
                  <a:srgbClr val="7030A0"/>
                </a:solidFill>
                <a:latin typeface="Times New Roman"/>
                <a:ea typeface="Times New Roman"/>
                <a:cs typeface="Times New Roman"/>
                <a:sym typeface="Times New Roman"/>
              </a:rPr>
              <a:t>WIP</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Create a barplot to show the distribution of readmission rates across the categories -&gt; </a:t>
            </a:r>
            <a:r>
              <a:rPr lang="en-US">
                <a:solidFill>
                  <a:srgbClr val="7030A0"/>
                </a:solidFill>
                <a:latin typeface="Times New Roman"/>
                <a:ea typeface="Times New Roman"/>
                <a:cs typeface="Times New Roman"/>
                <a:sym typeface="Times New Roman"/>
              </a:rPr>
              <a:t>WIP</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Analyze whether patients with food resources (food_res) have different readmission rates compared to those without (food_nores) by applying Yule-Q.</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NEXT STEPS </a:t>
            </a:r>
            <a:endParaRPr/>
          </a:p>
        </p:txBody>
      </p:sp>
      <p:sp>
        <p:nvSpPr>
          <p:cNvPr id="315" name="Google Shape;315;p3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Analyze whether patients with food resources (food_res) have different readmission rates compared to those without (food_nores) by applying Yule-Q.</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Create a barplot to show the distribution of readmission rates across the categories </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Look over ClincicalBert and Doc2Vec (NLP models), then read the notes as sentences and write them as classifiers. </a:t>
            </a:r>
            <a:endParaRPr/>
          </a:p>
          <a:p>
            <a:pPr indent="0" lvl="0" marL="91440" rtl="0" algn="l">
              <a:lnSpc>
                <a:spcPct val="90000"/>
              </a:lnSpc>
              <a:spcBef>
                <a:spcPts val="1400"/>
              </a:spcBef>
              <a:spcAft>
                <a:spcPts val="0"/>
              </a:spcAft>
              <a:buSzPts val="2200"/>
              <a:buFont typeface="Arial"/>
              <a:buNone/>
            </a:pPr>
            <a:r>
              <a:t/>
            </a:r>
            <a:endParaRPr>
              <a:latin typeface="Times New Roman"/>
              <a:ea typeface="Times New Roman"/>
              <a:cs typeface="Times New Roman"/>
              <a:sym typeface="Times New Roman"/>
            </a:endParaRPr>
          </a:p>
          <a:p>
            <a:pPr indent="0" lvl="0" marL="91440" rtl="0" algn="l">
              <a:lnSpc>
                <a:spcPct val="90000"/>
              </a:lnSpc>
              <a:spcBef>
                <a:spcPts val="1400"/>
              </a:spcBef>
              <a:spcAft>
                <a:spcPts val="0"/>
              </a:spcAft>
              <a:buSzPts val="2200"/>
              <a:buNone/>
            </a:pPr>
            <a:r>
              <a:t/>
            </a:r>
            <a:endParaRPr>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9" name="Shape 319"/>
        <p:cNvGrpSpPr/>
        <p:nvPr/>
      </p:nvGrpSpPr>
      <p:grpSpPr>
        <a:xfrm>
          <a:off x="0" y="0"/>
          <a:ext cx="0" cy="0"/>
          <a:chOff x="0" y="0"/>
          <a:chExt cx="0" cy="0"/>
        </a:xfrm>
      </p:grpSpPr>
      <p:sp>
        <p:nvSpPr>
          <p:cNvPr id="320" name="Google Shape;320;p32"/>
          <p:cNvSpPr/>
          <p:nvPr/>
        </p:nvSpPr>
        <p:spPr>
          <a:xfrm>
            <a:off x="0" y="0"/>
            <a:ext cx="12188726" cy="685897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1" name="Google Shape;321;p32"/>
          <p:cNvSpPr/>
          <p:nvPr/>
        </p:nvSpPr>
        <p:spPr>
          <a:xfrm>
            <a:off x="0" y="0"/>
            <a:ext cx="753465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wentieth Century"/>
              <a:ea typeface="Twentieth Century"/>
              <a:cs typeface="Twentieth Century"/>
              <a:sym typeface="Twentieth Century"/>
            </a:endParaRPr>
          </a:p>
        </p:txBody>
      </p:sp>
      <p:sp>
        <p:nvSpPr>
          <p:cNvPr id="322" name="Google Shape;322;p32"/>
          <p:cNvSpPr txBox="1"/>
          <p:nvPr>
            <p:ph type="ctrTitle"/>
          </p:nvPr>
        </p:nvSpPr>
        <p:spPr>
          <a:xfrm>
            <a:off x="634276" y="640080"/>
            <a:ext cx="6265288" cy="3034857"/>
          </a:xfrm>
          <a:prstGeom prst="rect">
            <a:avLst/>
          </a:prstGeom>
          <a:noFill/>
          <a:ln>
            <a:noFill/>
          </a:ln>
        </p:spPr>
        <p:txBody>
          <a:bodyPr anchorCtr="0" anchor="b" bIns="45700" lIns="91425" spcFirstLastPara="1" rIns="91425" wrap="square" tIns="45700">
            <a:normAutofit/>
          </a:bodyPr>
          <a:lstStyle/>
          <a:p>
            <a:pPr indent="0" lvl="0" marL="0" rtl="0" algn="r">
              <a:lnSpc>
                <a:spcPct val="80000"/>
              </a:lnSpc>
              <a:spcBef>
                <a:spcPts val="0"/>
              </a:spcBef>
              <a:spcAft>
                <a:spcPts val="0"/>
              </a:spcAft>
              <a:buClr>
                <a:srgbClr val="FFFFFF"/>
              </a:buClr>
              <a:buSzPts val="5000"/>
              <a:buFont typeface="Twentieth Century"/>
              <a:buNone/>
            </a:pPr>
            <a:r>
              <a:rPr lang="en-US">
                <a:solidFill>
                  <a:srgbClr val="FFFFFF"/>
                </a:solidFill>
              </a:rPr>
              <a:t>PREDICT READMISSION RATE BASED ON SDOH CATEGORIES FOR SINAI HOSPITAL (SUHI) PROJECT</a:t>
            </a:r>
            <a:endParaRPr/>
          </a:p>
        </p:txBody>
      </p:sp>
      <p:sp>
        <p:nvSpPr>
          <p:cNvPr id="323" name="Google Shape;323;p32"/>
          <p:cNvSpPr txBox="1"/>
          <p:nvPr>
            <p:ph idx="1" type="subTitle"/>
          </p:nvPr>
        </p:nvSpPr>
        <p:spPr>
          <a:xfrm>
            <a:off x="638921" y="3849539"/>
            <a:ext cx="6186752" cy="2359417"/>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800"/>
              <a:buNone/>
            </a:pPr>
            <a:r>
              <a:rPr lang="en-US">
                <a:solidFill>
                  <a:srgbClr val="FFFFFF"/>
                </a:solidFill>
              </a:rPr>
              <a:t>Motorola Solutions Foundation Scholars Program </a:t>
            </a:r>
            <a:endParaRPr/>
          </a:p>
          <a:p>
            <a:pPr indent="0" lvl="0" marL="0" rtl="0" algn="r">
              <a:lnSpc>
                <a:spcPct val="100000"/>
              </a:lnSpc>
              <a:spcBef>
                <a:spcPts val="200"/>
              </a:spcBef>
              <a:spcAft>
                <a:spcPts val="0"/>
              </a:spcAft>
              <a:buSzPts val="1800"/>
              <a:buNone/>
            </a:pPr>
            <a:r>
              <a:rPr lang="en-US">
                <a:solidFill>
                  <a:srgbClr val="FFFFFF"/>
                </a:solidFill>
              </a:rPr>
              <a:t>March 3</a:t>
            </a:r>
            <a:r>
              <a:rPr baseline="30000" lang="en-US">
                <a:solidFill>
                  <a:srgbClr val="FFFFFF"/>
                </a:solidFill>
              </a:rPr>
              <a:t>rd</a:t>
            </a:r>
            <a:endParaRPr>
              <a:solidFill>
                <a:srgbClr val="FFFFFF"/>
              </a:solidFill>
            </a:endParaRPr>
          </a:p>
          <a:p>
            <a:pPr indent="0" lvl="0" marL="0" rtl="0" algn="r">
              <a:lnSpc>
                <a:spcPct val="100000"/>
              </a:lnSpc>
              <a:spcBef>
                <a:spcPts val="200"/>
              </a:spcBef>
              <a:spcAft>
                <a:spcPts val="0"/>
              </a:spcAft>
              <a:buSzPts val="1800"/>
              <a:buNone/>
            </a:pPr>
            <a:r>
              <a:rPr lang="en-US">
                <a:solidFill>
                  <a:srgbClr val="FFFFFF"/>
                </a:solidFill>
              </a:rPr>
              <a:t>Minh Nguyen </a:t>
            </a:r>
            <a:endParaRPr/>
          </a:p>
          <a:p>
            <a:pPr indent="0" lvl="0" marL="0" rtl="0" algn="r">
              <a:lnSpc>
                <a:spcPct val="100000"/>
              </a:lnSpc>
              <a:spcBef>
                <a:spcPts val="200"/>
              </a:spcBef>
              <a:spcAft>
                <a:spcPts val="0"/>
              </a:spcAft>
              <a:buSzPts val="1800"/>
              <a:buNone/>
            </a:pPr>
            <a:r>
              <a:t/>
            </a:r>
            <a:endParaRPr>
              <a:solidFill>
                <a:srgbClr val="FFFFFF"/>
              </a:solidFill>
            </a:endParaRPr>
          </a:p>
        </p:txBody>
      </p:sp>
      <p:pic>
        <p:nvPicPr>
          <p:cNvPr descr="Depaul University Logo PNG Vector (EPS) Free Download" id="324" name="Google Shape;324;p32"/>
          <p:cNvPicPr preferRelativeResize="0"/>
          <p:nvPr/>
        </p:nvPicPr>
        <p:blipFill rotWithShape="1">
          <a:blip r:embed="rId3">
            <a:alphaModFix/>
          </a:blip>
          <a:srcRect b="0" l="0" r="0" t="0"/>
          <a:stretch/>
        </p:blipFill>
        <p:spPr>
          <a:xfrm>
            <a:off x="7964823" y="812681"/>
            <a:ext cx="3739271" cy="2455454"/>
          </a:xfrm>
          <a:prstGeom prst="rect">
            <a:avLst/>
          </a:prstGeom>
          <a:noFill/>
          <a:ln>
            <a:noFill/>
          </a:ln>
        </p:spPr>
      </p:pic>
      <p:cxnSp>
        <p:nvCxnSpPr>
          <p:cNvPr id="325" name="Google Shape;325;p32"/>
          <p:cNvCxnSpPr/>
          <p:nvPr/>
        </p:nvCxnSpPr>
        <p:spPr>
          <a:xfrm>
            <a:off x="786679" y="3765314"/>
            <a:ext cx="5943600" cy="0"/>
          </a:xfrm>
          <a:prstGeom prst="straightConnector1">
            <a:avLst/>
          </a:prstGeom>
          <a:noFill/>
          <a:ln cap="flat" cmpd="sng" w="19050">
            <a:solidFill>
              <a:srgbClr val="FFFFFF"/>
            </a:solidFill>
            <a:prstDash val="solid"/>
            <a:round/>
            <a:headEnd len="sm" w="sm" type="none"/>
            <a:tailEnd len="sm" w="sm" type="none"/>
          </a:ln>
        </p:spPr>
      </p:cxnSp>
      <p:pic>
        <p:nvPicPr>
          <p:cNvPr descr="A black and white logo&#10;&#10;Description automatically generated" id="326" name="Google Shape;326;p32"/>
          <p:cNvPicPr preferRelativeResize="0"/>
          <p:nvPr/>
        </p:nvPicPr>
        <p:blipFill rotWithShape="1">
          <a:blip r:embed="rId4">
            <a:alphaModFix/>
          </a:blip>
          <a:srcRect b="0" l="0" r="0" t="0"/>
          <a:stretch/>
        </p:blipFill>
        <p:spPr>
          <a:xfrm>
            <a:off x="7966697" y="3589867"/>
            <a:ext cx="3737397" cy="13267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RESEARCH QUESTIONS </a:t>
            </a:r>
            <a:endParaRPr/>
          </a:p>
        </p:txBody>
      </p:sp>
      <p:sp>
        <p:nvSpPr>
          <p:cNvPr id="332" name="Google Shape;332;p33"/>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en-US"/>
              <a:t>Do patients who have a specific resource (e.g., emotional support, food assistance) will have different hospital readmission rates compared to patients who do not have that resource?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4"/>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HYPOTHESIS</a:t>
            </a:r>
            <a:endParaRPr/>
          </a:p>
        </p:txBody>
      </p:sp>
      <p:sp>
        <p:nvSpPr>
          <p:cNvPr id="338" name="Google Shape;338;p34"/>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t> H: There is a significant correlation between having the resources and the readmission rate.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CURRENT WORK </a:t>
            </a:r>
            <a:endParaRPr/>
          </a:p>
        </p:txBody>
      </p:sp>
      <p:sp>
        <p:nvSpPr>
          <p:cNvPr id="344" name="Google Shape;344;p35"/>
          <p:cNvSpPr txBox="1"/>
          <p:nvPr>
            <p:ph idx="1" type="body"/>
          </p:nvPr>
        </p:nvSpPr>
        <p:spPr>
          <a:xfrm>
            <a:off x="254833" y="2286000"/>
            <a:ext cx="11937167"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 Read through the document about Yule Q that Dr. Tchoua sent -&gt; </a:t>
            </a:r>
            <a:r>
              <a:rPr lang="en-US">
                <a:solidFill>
                  <a:schemeClr val="accent5"/>
                </a:solidFill>
                <a:latin typeface="Times New Roman"/>
                <a:ea typeface="Times New Roman"/>
                <a:cs typeface="Times New Roman"/>
                <a:sym typeface="Times New Roman"/>
              </a:rPr>
              <a:t>Finished</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Create a barplot to show the distribution of readmission rates across the categories -&gt; </a:t>
            </a:r>
            <a:r>
              <a:rPr lang="en-US">
                <a:solidFill>
                  <a:schemeClr val="accent5"/>
                </a:solidFill>
                <a:latin typeface="Times New Roman"/>
                <a:ea typeface="Times New Roman"/>
                <a:cs typeface="Times New Roman"/>
                <a:sym typeface="Times New Roman"/>
              </a:rPr>
              <a:t>Finished</a:t>
            </a:r>
            <a:endParaRPr>
              <a:solidFill>
                <a:srgbClr val="7030A0"/>
              </a:solidFill>
              <a:latin typeface="Times New Roman"/>
              <a:ea typeface="Times New Roman"/>
              <a:cs typeface="Times New Roman"/>
              <a:sym typeface="Times New Roman"/>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Analyze whether patients with food resources (food_res) and other kind of categories have different readmission rates compared to those without (food_nores) by applying Yule-Q -&gt; </a:t>
            </a:r>
            <a:r>
              <a:rPr lang="en-US">
                <a:solidFill>
                  <a:schemeClr val="accent5"/>
                </a:solidFill>
                <a:latin typeface="Times New Roman"/>
                <a:ea typeface="Times New Roman"/>
                <a:cs typeface="Times New Roman"/>
                <a:sym typeface="Times New Roman"/>
              </a:rPr>
              <a:t>Finished</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Writing an abstract for CAURS 2025 -&gt; </a:t>
            </a:r>
            <a:r>
              <a:rPr lang="en-US">
                <a:solidFill>
                  <a:schemeClr val="accent5"/>
                </a:solidFill>
                <a:latin typeface="Times New Roman"/>
                <a:ea typeface="Times New Roman"/>
                <a:cs typeface="Times New Roman"/>
                <a:sym typeface="Times New Roman"/>
              </a:rPr>
              <a:t>Finished</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Look over ClincicalBert and Doc2Vec (NLP models), then read the notes as sentences and write them as classifiers -&gt; </a:t>
            </a:r>
            <a:r>
              <a:rPr lang="en-US">
                <a:solidFill>
                  <a:srgbClr val="7030A0"/>
                </a:solidFill>
                <a:latin typeface="Times New Roman"/>
                <a:ea typeface="Times New Roman"/>
                <a:cs typeface="Times New Roman"/>
                <a:sym typeface="Times New Roman"/>
              </a:rPr>
              <a:t>WIP</a:t>
            </a:r>
            <a:endParaRPr/>
          </a:p>
          <a:p>
            <a:pPr indent="0" lvl="0" marL="91440" rtl="0" algn="l">
              <a:lnSpc>
                <a:spcPct val="90000"/>
              </a:lnSpc>
              <a:spcBef>
                <a:spcPts val="1400"/>
              </a:spcBef>
              <a:spcAft>
                <a:spcPts val="0"/>
              </a:spcAft>
              <a:buSzPts val="2200"/>
              <a:buNone/>
            </a:pPr>
            <a:r>
              <a:t/>
            </a:r>
            <a:endParaRPr/>
          </a:p>
          <a:p>
            <a:pPr indent="0" lvl="0" marL="91440" rtl="0" algn="l">
              <a:lnSpc>
                <a:spcPct val="90000"/>
              </a:lnSpc>
              <a:spcBef>
                <a:spcPts val="1400"/>
              </a:spcBef>
              <a:spcAft>
                <a:spcPts val="0"/>
              </a:spcAft>
              <a:buSzPts val="22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1024127" y="585216"/>
            <a:ext cx="11055577"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t/>
            </a:r>
            <a:endParaRPr/>
          </a:p>
        </p:txBody>
      </p:sp>
      <p:sp>
        <p:nvSpPr>
          <p:cNvPr id="350" name="Google Shape;350;p36"/>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0" lvl="0" marL="91440" rtl="0" algn="l">
              <a:lnSpc>
                <a:spcPct val="90000"/>
              </a:lnSpc>
              <a:spcBef>
                <a:spcPts val="0"/>
              </a:spcBef>
              <a:spcAft>
                <a:spcPts val="0"/>
              </a:spcAft>
              <a:buSzPts val="2200"/>
              <a:buNone/>
            </a:pPr>
            <a:r>
              <a:t/>
            </a:r>
            <a:endParaRPr/>
          </a:p>
        </p:txBody>
      </p:sp>
      <p:pic>
        <p:nvPicPr>
          <p:cNvPr id="351" name="Google Shape;351;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BETWEEN ASTHMA_RES VS ASTHMA_NORES</a:t>
            </a:r>
            <a:endParaRPr/>
          </a:p>
        </p:txBody>
      </p:sp>
      <p:graphicFrame>
        <p:nvGraphicFramePr>
          <p:cNvPr id="357" name="Google Shape;357;p37"/>
          <p:cNvGraphicFramePr/>
          <p:nvPr/>
        </p:nvGraphicFramePr>
        <p:xfrm>
          <a:off x="6096000" y="3734121"/>
          <a:ext cx="3000000" cy="3000000"/>
        </p:xfrm>
        <a:graphic>
          <a:graphicData uri="http://schemas.openxmlformats.org/drawingml/2006/table">
            <a:tbl>
              <a:tblPr bandRow="1" firstRow="1">
                <a:noFill/>
                <a:tableStyleId>{AFBEF156-AE33-4673-8F29-369F8A23E65B}</a:tableStyleId>
              </a:tblPr>
              <a:tblGrid>
                <a:gridCol w="2032000"/>
                <a:gridCol w="2032000"/>
                <a:gridCol w="2032000"/>
              </a:tblGrid>
              <a:tr h="1041300">
                <a:tc>
                  <a:txBody>
                    <a:bodyPr/>
                    <a:lstStyle/>
                    <a:p>
                      <a:pPr indent="0" lvl="0" marL="0" marR="0" rtl="0" algn="l">
                        <a:spcBef>
                          <a:spcPts val="0"/>
                        </a:spcBef>
                        <a:spcAft>
                          <a:spcPts val="0"/>
                        </a:spcAft>
                        <a:buNone/>
                      </a:pPr>
                      <a:r>
                        <a:rPr lang="en-US" sz="2000"/>
                        <a:t>Yule – Q = 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Not 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asthma_res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rgbClr val="FF0000"/>
                          </a:solidFill>
                        </a:rPr>
                        <a:t>4 (a)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accent1"/>
                          </a:solidFill>
                        </a:rPr>
                        <a:t>6 (b)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asthma_nores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accent1"/>
                          </a:solidFill>
                        </a:rPr>
                        <a:t>0 (c)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rgbClr val="FF0000"/>
                          </a:solidFill>
                        </a:rPr>
                        <a:t>2 (d)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58" name="Google Shape;358;p37"/>
          <p:cNvSpPr txBox="1"/>
          <p:nvPr>
            <p:ph idx="1" type="body"/>
          </p:nvPr>
        </p:nvSpPr>
        <p:spPr>
          <a:xfrm>
            <a:off x="1024128" y="2286000"/>
            <a:ext cx="4045177" cy="4572000"/>
          </a:xfrm>
          <a:prstGeom prst="rect">
            <a:avLst/>
          </a:prstGeom>
          <a:blipFill rotWithShape="1">
            <a:blip r:embed="rId3">
              <a:alphaModFix/>
            </a:blip>
            <a:stretch>
              <a:fillRect b="0" l="-3124" r="0" t="-1666"/>
            </a:stretch>
          </a:blip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Char char=" "/>
            </a:pPr>
            <a:r>
              <a:rPr lang="en-US"/>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8"/>
          <p:cNvSpPr txBox="1"/>
          <p:nvPr>
            <p:ph type="title"/>
          </p:nvPr>
        </p:nvSpPr>
        <p:spPr>
          <a:xfrm>
            <a:off x="1024128" y="585216"/>
            <a:ext cx="111678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BETWEEN EMOTIONAL_RES VS EMOTIONAL_NORES</a:t>
            </a:r>
            <a:endParaRPr/>
          </a:p>
        </p:txBody>
      </p:sp>
      <p:graphicFrame>
        <p:nvGraphicFramePr>
          <p:cNvPr id="364" name="Google Shape;364;p38"/>
          <p:cNvGraphicFramePr/>
          <p:nvPr/>
        </p:nvGraphicFramePr>
        <p:xfrm>
          <a:off x="6096000" y="3429000"/>
          <a:ext cx="3000000" cy="3000000"/>
        </p:xfrm>
        <a:graphic>
          <a:graphicData uri="http://schemas.openxmlformats.org/drawingml/2006/table">
            <a:tbl>
              <a:tblPr bandRow="1" firstRow="1">
                <a:noFill/>
                <a:tableStyleId>{AFBEF156-AE33-4673-8F29-369F8A23E65B}</a:tableStyleId>
              </a:tblPr>
              <a:tblGrid>
                <a:gridCol w="2032000"/>
                <a:gridCol w="2032000"/>
                <a:gridCol w="2032000"/>
              </a:tblGrid>
              <a:tr h="1143000">
                <a:tc>
                  <a:txBody>
                    <a:bodyPr/>
                    <a:lstStyle/>
                    <a:p>
                      <a:pPr indent="0" lvl="0" marL="0" marR="0" rtl="0" algn="l">
                        <a:spcBef>
                          <a:spcPts val="0"/>
                        </a:spcBef>
                        <a:spcAft>
                          <a:spcPts val="0"/>
                        </a:spcAft>
                        <a:buNone/>
                      </a:pPr>
                      <a:r>
                        <a:rPr lang="en-US" sz="2000"/>
                        <a:t>Yule – Q = - 0.14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Not 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43000">
                <a:tc>
                  <a:txBody>
                    <a:bodyPr/>
                    <a:lstStyle/>
                    <a:p>
                      <a:pPr indent="0" lvl="0" marL="0" marR="0" rtl="0" algn="l">
                        <a:spcBef>
                          <a:spcPts val="0"/>
                        </a:spcBef>
                        <a:spcAft>
                          <a:spcPts val="0"/>
                        </a:spcAft>
                        <a:buNone/>
                      </a:pPr>
                      <a:r>
                        <a:rPr lang="en-US" sz="2000">
                          <a:solidFill>
                            <a:schemeClr val="dk1"/>
                          </a:solidFill>
                        </a:rPr>
                        <a:t>Emotional_res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43000">
                <a:tc>
                  <a:txBody>
                    <a:bodyPr/>
                    <a:lstStyle/>
                    <a:p>
                      <a:pPr indent="0" lvl="0" marL="0" marR="0" rtl="0" algn="l">
                        <a:spcBef>
                          <a:spcPts val="0"/>
                        </a:spcBef>
                        <a:spcAft>
                          <a:spcPts val="0"/>
                        </a:spcAft>
                        <a:buNone/>
                      </a:pPr>
                      <a:r>
                        <a:rPr lang="en-US" sz="2000">
                          <a:solidFill>
                            <a:schemeClr val="dk1"/>
                          </a:solidFill>
                        </a:rPr>
                        <a:t>Emotional_nores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65" name="Google Shape;365;p38"/>
          <p:cNvSpPr txBox="1"/>
          <p:nvPr/>
        </p:nvSpPr>
        <p:spPr>
          <a:xfrm>
            <a:off x="0" y="2084832"/>
            <a:ext cx="6096000" cy="308481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Yule’s Q = -0.14, which indicates a slight negative correlation between having the emotional resources and being readmitted</a:t>
            </a:r>
            <a:endParaRPr/>
          </a:p>
          <a:p>
            <a:pPr indent="-285750" lvl="0" marL="285750" marR="0" rtl="0" algn="l">
              <a:lnSpc>
                <a:spcPct val="150000"/>
              </a:lnSpc>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Patients with the emotional resource are less likely to be readmitted than those without it.</a:t>
            </a:r>
            <a:endParaRPr/>
          </a:p>
          <a:p>
            <a:pPr indent="-146050" lvl="0" marL="285750" marR="0" rtl="0" algn="l">
              <a:lnSpc>
                <a:spcPct val="150000"/>
              </a:lnSpc>
              <a:spcBef>
                <a:spcPts val="0"/>
              </a:spcBef>
              <a:spcAft>
                <a:spcPts val="0"/>
              </a:spcAft>
              <a:buClr>
                <a:schemeClr val="dk1"/>
              </a:buClr>
              <a:buSzPts val="2200"/>
              <a:buFont typeface="Arial"/>
              <a:buNone/>
            </a:pPr>
            <a:r>
              <a:t/>
            </a:r>
            <a:endParaRPr sz="22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9"/>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BETWEEN EMPLOY_RES VS EMPLOY_NORES</a:t>
            </a:r>
            <a:endParaRPr/>
          </a:p>
        </p:txBody>
      </p:sp>
      <p:graphicFrame>
        <p:nvGraphicFramePr>
          <p:cNvPr id="371" name="Google Shape;371;p39"/>
          <p:cNvGraphicFramePr/>
          <p:nvPr/>
        </p:nvGraphicFramePr>
        <p:xfrm>
          <a:off x="6096000" y="3734121"/>
          <a:ext cx="3000000" cy="3000000"/>
        </p:xfrm>
        <a:graphic>
          <a:graphicData uri="http://schemas.openxmlformats.org/drawingml/2006/table">
            <a:tbl>
              <a:tblPr bandRow="1" firstRow="1">
                <a:noFill/>
                <a:tableStyleId>{AFBEF156-AE33-4673-8F29-369F8A23E65B}</a:tableStyleId>
              </a:tblPr>
              <a:tblGrid>
                <a:gridCol w="2032000"/>
                <a:gridCol w="2032000"/>
                <a:gridCol w="2032000"/>
              </a:tblGrid>
              <a:tr h="1041300">
                <a:tc>
                  <a:txBody>
                    <a:bodyPr/>
                    <a:lstStyle/>
                    <a:p>
                      <a:pPr indent="0" lvl="0" marL="0" marR="0" rtl="0" algn="l">
                        <a:spcBef>
                          <a:spcPts val="0"/>
                        </a:spcBef>
                        <a:spcAft>
                          <a:spcPts val="0"/>
                        </a:spcAft>
                        <a:buNone/>
                      </a:pPr>
                      <a:r>
                        <a:rPr lang="en-US" sz="2000"/>
                        <a:t>Yule - Q = - 0.61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Not 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employ_res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21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employ_nores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72" name="Google Shape;372;p39"/>
          <p:cNvSpPr txBox="1"/>
          <p:nvPr/>
        </p:nvSpPr>
        <p:spPr>
          <a:xfrm>
            <a:off x="752169" y="2462981"/>
            <a:ext cx="4739148" cy="2462213"/>
          </a:xfrm>
          <a:prstGeom prst="rect">
            <a:avLst/>
          </a:prstGeom>
          <a:noFill/>
          <a:ln>
            <a:noFill/>
          </a:ln>
        </p:spPr>
        <p:txBody>
          <a:bodyPr anchorCtr="0" anchor="t" bIns="45700" lIns="91425" spcFirstLastPara="1" rIns="91425" wrap="square" tIns="45700">
            <a:spAutoFit/>
          </a:bodyPr>
          <a:lstStyle/>
          <a:p>
            <a:pPr indent="-139700" lvl="0" marL="0" marR="0" rtl="0" algn="l">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 Yule’s Q = -0.61 shows this is a moderate negative correlation between patients who have the employment resource and being readmitted.</a:t>
            </a:r>
            <a:endParaRPr/>
          </a:p>
          <a:p>
            <a:pPr indent="-139700" lvl="0" marL="0" marR="0" rtl="0" algn="l">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 Patients with the resource tend to have lower readmission rates than those without it.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0"/>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READMISSION RATE BETWEEN PCP_RES VS PCP_NORES</a:t>
            </a:r>
            <a:endParaRPr/>
          </a:p>
        </p:txBody>
      </p:sp>
      <p:graphicFrame>
        <p:nvGraphicFramePr>
          <p:cNvPr id="378" name="Google Shape;378;p40"/>
          <p:cNvGraphicFramePr/>
          <p:nvPr/>
        </p:nvGraphicFramePr>
        <p:xfrm>
          <a:off x="6096000" y="3734121"/>
          <a:ext cx="3000000" cy="3000000"/>
        </p:xfrm>
        <a:graphic>
          <a:graphicData uri="http://schemas.openxmlformats.org/drawingml/2006/table">
            <a:tbl>
              <a:tblPr bandRow="1" firstRow="1">
                <a:noFill/>
                <a:tableStyleId>{AFBEF156-AE33-4673-8F29-369F8A23E65B}</a:tableStyleId>
              </a:tblPr>
              <a:tblGrid>
                <a:gridCol w="2032000"/>
                <a:gridCol w="2032000"/>
                <a:gridCol w="2032000"/>
              </a:tblGrid>
              <a:tr h="1041300">
                <a:tc>
                  <a:txBody>
                    <a:bodyPr/>
                    <a:lstStyle/>
                    <a:p>
                      <a:pPr indent="0" lvl="0" marL="0" marR="0" rtl="0" algn="l">
                        <a:spcBef>
                          <a:spcPts val="0"/>
                        </a:spcBef>
                        <a:spcAft>
                          <a:spcPts val="0"/>
                        </a:spcAft>
                        <a:buNone/>
                      </a:pPr>
                      <a:r>
                        <a:rPr lang="en-US" sz="2000"/>
                        <a:t>Yule – Q = - 0.28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t>Not Readmitted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PCP_res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10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27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41300">
                <a:tc>
                  <a:txBody>
                    <a:bodyPr/>
                    <a:lstStyle/>
                    <a:p>
                      <a:pPr indent="0" lvl="0" marL="0" marR="0" rtl="0" algn="l">
                        <a:spcBef>
                          <a:spcPts val="0"/>
                        </a:spcBef>
                        <a:spcAft>
                          <a:spcPts val="0"/>
                        </a:spcAft>
                        <a:buNone/>
                      </a:pPr>
                      <a:r>
                        <a:rPr lang="en-US" sz="2000">
                          <a:solidFill>
                            <a:schemeClr val="dk1"/>
                          </a:solidFill>
                        </a:rPr>
                        <a:t>PCP_nores</a:t>
                      </a:r>
                      <a:endParaRPr sz="20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2000">
                          <a:solidFill>
                            <a:schemeClr val="dk1"/>
                          </a:solidFil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379" name="Google Shape;379;p40"/>
          <p:cNvSpPr txBox="1"/>
          <p:nvPr/>
        </p:nvSpPr>
        <p:spPr>
          <a:xfrm>
            <a:off x="339213" y="2890684"/>
            <a:ext cx="5756787" cy="2462213"/>
          </a:xfrm>
          <a:prstGeom prst="rect">
            <a:avLst/>
          </a:prstGeom>
          <a:noFill/>
          <a:ln>
            <a:noFill/>
          </a:ln>
        </p:spPr>
        <p:txBody>
          <a:bodyPr anchorCtr="0" anchor="t" bIns="45700" lIns="91425" spcFirstLastPara="1" rIns="91425" wrap="square" tIns="45700">
            <a:spAutoFit/>
          </a:bodyPr>
          <a:lstStyle/>
          <a:p>
            <a:pPr indent="-139700" lvl="0" marL="0" marR="0" rtl="0" algn="l">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 Yule’s Q = -0.28, this shows a slightly negative correlation between patients who have the primary care provider resource and being readmitted.</a:t>
            </a:r>
            <a:endParaRPr/>
          </a:p>
          <a:p>
            <a:pPr indent="-139700" lvl="0" marL="0" marR="0" rtl="0" algn="l">
              <a:spcBef>
                <a:spcPts val="0"/>
              </a:spcBef>
              <a:spcAft>
                <a:spcPts val="0"/>
              </a:spcAft>
              <a:buClr>
                <a:schemeClr val="dk1"/>
              </a:buClr>
              <a:buSzPts val="2200"/>
              <a:buFont typeface="Arial"/>
              <a:buChar char="•"/>
            </a:pPr>
            <a:r>
              <a:rPr lang="en-US" sz="2200">
                <a:solidFill>
                  <a:schemeClr val="dk1"/>
                </a:solidFill>
                <a:latin typeface="Twentieth Century"/>
                <a:ea typeface="Twentieth Century"/>
                <a:cs typeface="Twentieth Century"/>
                <a:sym typeface="Twentieth Century"/>
              </a:rPr>
              <a:t> Patients with the resource tend to have lower readmission rates than those without it.</a:t>
            </a:r>
            <a:endParaRPr/>
          </a:p>
          <a:p>
            <a:pPr indent="0" lvl="0" marL="0" marR="0" rtl="0" algn="l">
              <a:spcBef>
                <a:spcPts val="0"/>
              </a:spcBef>
              <a:spcAft>
                <a:spcPts val="0"/>
              </a:spcAft>
              <a:buNone/>
            </a:pPr>
            <a:r>
              <a:t/>
            </a:r>
            <a:endParaRPr sz="22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rgbClr val="0C0C0C"/>
              </a:buClr>
              <a:buSzPts val="5000"/>
              <a:buFont typeface="Twentieth Century"/>
              <a:buNone/>
            </a:pPr>
            <a:r>
              <a:rPr lang="en-US"/>
              <a:t>NEXT STEPS </a:t>
            </a:r>
            <a:endParaRPr/>
          </a:p>
        </p:txBody>
      </p:sp>
      <p:sp>
        <p:nvSpPr>
          <p:cNvPr id="385" name="Google Shape;385;p4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rmAutofit/>
          </a:bodyPr>
          <a:lstStyle/>
          <a:p>
            <a:pPr indent="-139700" lvl="0" marL="91440" rtl="0" algn="l">
              <a:lnSpc>
                <a:spcPct val="90000"/>
              </a:lnSpc>
              <a:spcBef>
                <a:spcPts val="0"/>
              </a:spcBef>
              <a:spcAft>
                <a:spcPts val="0"/>
              </a:spcAft>
              <a:buSzPts val="2200"/>
              <a:buFont typeface="Arial"/>
              <a:buChar char="•"/>
            </a:pPr>
            <a:r>
              <a:rPr lang="en-US">
                <a:latin typeface="Times New Roman"/>
                <a:ea typeface="Times New Roman"/>
                <a:cs typeface="Times New Roman"/>
                <a:sym typeface="Times New Roman"/>
              </a:rPr>
              <a:t>Learn more about ClincicalBert and Doc2Vec (NLP models)</a:t>
            </a:r>
            <a:endParaRPr/>
          </a:p>
          <a:p>
            <a:pPr indent="-139700" lvl="0" marL="91440" rtl="0" algn="l">
              <a:lnSpc>
                <a:spcPct val="90000"/>
              </a:lnSpc>
              <a:spcBef>
                <a:spcPts val="1400"/>
              </a:spcBef>
              <a:spcAft>
                <a:spcPts val="0"/>
              </a:spcAft>
              <a:buSzPts val="2200"/>
              <a:buFont typeface="Arial"/>
              <a:buChar char="•"/>
            </a:pPr>
            <a:r>
              <a:rPr lang="en-US">
                <a:latin typeface="Times New Roman"/>
                <a:ea typeface="Times New Roman"/>
                <a:cs typeface="Times New Roman"/>
                <a:sym typeface="Times New Roman"/>
              </a:rPr>
              <a:t> Read the notes as sentences and write them as classifiers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2025-01-09T22:57:47Z</dcterms:created>
  <dc:creator>Nguyen, Minh Hoang</dc:creator>
</cp:coreProperties>
</file>